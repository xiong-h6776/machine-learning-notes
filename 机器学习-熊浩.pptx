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502" r:id="rId2"/>
    <p:sldId id="584" r:id="rId3"/>
    <p:sldId id="585" r:id="rId4"/>
    <p:sldId id="586" r:id="rId5"/>
    <p:sldId id="587" r:id="rId6"/>
    <p:sldId id="588" r:id="rId7"/>
    <p:sldId id="590" r:id="rId8"/>
    <p:sldId id="589" r:id="rId9"/>
    <p:sldId id="591" r:id="rId10"/>
    <p:sldId id="592" r:id="rId11"/>
    <p:sldId id="593" r:id="rId12"/>
    <p:sldId id="594" r:id="rId13"/>
    <p:sldId id="59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E7F2EA"/>
    <a:srgbClr val="FEFEFE"/>
    <a:srgbClr val="FDE5E8"/>
    <a:srgbClr val="1955AA"/>
    <a:srgbClr val="235AAA"/>
    <a:srgbClr val="ECF5FF"/>
    <a:srgbClr val="FFFFFF"/>
    <a:srgbClr val="004A98"/>
    <a:srgbClr val="9E9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86386" autoAdjust="0"/>
  </p:normalViewPr>
  <p:slideViewPr>
    <p:cSldViewPr snapToGrid="0">
      <p:cViewPr varScale="1">
        <p:scale>
          <a:sx n="85" d="100"/>
          <a:sy n="85" d="100"/>
        </p:scale>
        <p:origin x="72" y="196"/>
      </p:cViewPr>
      <p:guideLst/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9F04F-F0B4-49B5-BFCE-0689A13DC49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8F42-9347-4EA8-B314-ADAAE8A7D2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57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68F42-9347-4EA8-B314-ADAAE8A7D24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1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1EBD-E661-82AF-EBE8-650D9E8F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C9EA02-F262-6969-8F65-A377A97A8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355D65-7F66-E25C-793A-0CE5AE7A1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1A39B-9F6B-2336-971F-419A9CDC1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1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44A8-9C04-354F-ADF0-3499F3E2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FBD8BA-5488-2EB1-581E-69D3AB7EB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E9EA8C-2E81-E35D-3D90-1F2601B3B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92D5B-2827-00CA-F462-8C4E26304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007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FD4D-CD93-17E7-A8C4-235FC77E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9B4DF7-9335-C76A-1D19-8BC9D6468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E56CA1-B4A9-CF6C-9DDC-9CDB6F979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909485-935F-850B-D902-83F3512DC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68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956A-CD15-7624-9148-E6BF4A97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4C1535-07B1-FE92-1B1C-1359F1B9E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E0AF7E-BBFA-E19B-64A4-1251E6EE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471C1-E5F0-0C82-1A7F-41749139F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728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09C4-A84D-3489-FDCB-F91A4FBA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9E8F46-814E-55E9-AE20-7CAC04140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37E925-22F5-A9F9-ECFB-3DAFAF3C3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GMM</a:t>
            </a:r>
            <a:r>
              <a:rPr lang="zh-CN" altLang="en-US"/>
              <a:t>（高斯混合模型）并不是假设所有数据整体都服从一个高斯分布，而是假设数据由多个潜在的群体组成，每个群体内部的数据可以近似服从一个高斯分布。例如，一个班级中可能同时存在学生和老师，整个群体的身高分布可能不是标准的钟形，但如果把学生和老师分别看待，学生身高和老师身高在各自群体内可能都近似服从高斯分布。因此，</a:t>
            </a:r>
            <a:r>
              <a:rPr lang="en-US" altLang="zh-CN"/>
              <a:t>GMM</a:t>
            </a:r>
            <a:r>
              <a:rPr lang="zh-CN" altLang="en-US"/>
              <a:t>用多个高斯分布的加权组合来描述整体数据。之所以选择高斯分布，一方面是很多现实数据在受到大量独立随机因素影响时，其局部分布可以近似高斯；另一方面，高斯分布数学形式简单、参数较少，便于进行概率计算和参数估计。所以，</a:t>
            </a:r>
            <a:r>
              <a:rPr lang="en-US" altLang="zh-CN"/>
              <a:t>GMM</a:t>
            </a:r>
            <a:r>
              <a:rPr lang="zh-CN" altLang="en-US"/>
              <a:t>的核心并不是“数据一定服从高斯分布”，而是用多个简单的高斯分布共同逼近复杂的数据分布。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8DEE6-8114-BEDA-F0ED-F64EC563A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76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A997-A7D7-267E-3EF5-A2180D0B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768167-A083-459F-5073-3D73B5D93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7A936B-3C36-6200-B9C3-F82C5612A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942872-DED7-E538-7062-5AA7DDB38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50AE-2145-CD39-4F41-3F445EE9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ECF7CA-6A7F-5C44-184F-07BA90671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120852-BF55-5E7D-FC07-7D5D7DF8A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7363A6-30A7-EF3A-573A-1BB015A49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266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35AF-C344-4064-37BF-4EC61ADC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13C3D9-D89A-F41B-1281-D1CFEB5D8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D02410-971E-0D12-8B2F-5C00920FF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E0419-44F4-1CDE-85DE-0A83F6D59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04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48B1-2FD8-9380-69A0-F7153747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A54EB9-0240-2BA3-5336-D2AD29CF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A2811B-04DE-55F5-B4C5-FC0ED5116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B1468-5DEF-68DC-41C1-9BB2FCED2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377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2026-6622-3096-4887-4FC6A947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E071A8-CCB6-DE1C-9ABD-5BC48A184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088EF-296B-F40B-7CDA-33F48CA6A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814515-8E85-4860-BC20-04DB45DA3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765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6C4D-598E-AA29-DE67-8494B3BE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E93189-0A8F-264D-3273-C30E957CA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44EA8F-3270-BCFA-3DE3-3E67E46EF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EE4E4-1C42-30A2-BE8D-0DB8759BC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03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D623-7C78-0521-0FE1-417AACD4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38C5E0-DE10-1D5C-4759-F3CDCB3F3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AF04CE-4124-1140-76FF-A1C5A3E53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916C3B-A94C-1C83-3433-C57DC9CD0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842F3-AA9E-40E5-99C4-B19904F777C1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950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梯形 6"/>
          <p:cNvSpPr/>
          <p:nvPr userDrawn="1"/>
        </p:nvSpPr>
        <p:spPr>
          <a:xfrm rot="10800000">
            <a:off x="2439493" y="32873"/>
            <a:ext cx="7659006" cy="540000"/>
          </a:xfrm>
          <a:prstGeom prst="trapezoid">
            <a:avLst>
              <a:gd name="adj" fmla="val 570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 baseline="0" dirty="0">
              <a:ea typeface="隶书" panose="020105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1912257"/>
            <a:ext cx="12192000" cy="2278743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10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5" y="65981"/>
            <a:ext cx="2302773" cy="54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44" y="65981"/>
            <a:ext cx="193571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6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梯形 6"/>
          <p:cNvSpPr/>
          <p:nvPr userDrawn="1"/>
        </p:nvSpPr>
        <p:spPr>
          <a:xfrm rot="10800000">
            <a:off x="2439493" y="32873"/>
            <a:ext cx="7659006" cy="540000"/>
          </a:xfrm>
          <a:prstGeom prst="trapezoid">
            <a:avLst>
              <a:gd name="adj" fmla="val 570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 baseline="0" dirty="0">
              <a:ea typeface="隶书" panose="020105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1912257"/>
            <a:ext cx="12192000" cy="2278743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10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5" y="65981"/>
            <a:ext cx="2302773" cy="54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0C92510-2713-E1EB-2F01-071B9997BB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49" b="26478"/>
          <a:stretch/>
        </p:blipFill>
        <p:spPr>
          <a:xfrm>
            <a:off x="10098499" y="32872"/>
            <a:ext cx="16562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3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回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D20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18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五边形 19"/>
          <p:cNvSpPr/>
          <p:nvPr userDrawn="1"/>
        </p:nvSpPr>
        <p:spPr>
          <a:xfrm>
            <a:off x="0" y="960004"/>
            <a:ext cx="12191365" cy="18000"/>
          </a:xfrm>
          <a:prstGeom prst="homePlate">
            <a:avLst>
              <a:gd name="adj" fmla="val 69636"/>
            </a:avLst>
          </a:prstGeom>
          <a:solidFill>
            <a:srgbClr val="D20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zh-CN" sz="4400" b="1" dirty="0">
              <a:solidFill>
                <a:srgbClr val="004A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14743" y="166140"/>
            <a:ext cx="9207735" cy="6573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rgbClr val="D20B1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617" y="169953"/>
            <a:ext cx="260981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回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D20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18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12257"/>
            <a:ext cx="12192000" cy="2278743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1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912257"/>
            <a:ext cx="12192000" cy="2278743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21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梯形 5"/>
          <p:cNvSpPr/>
          <p:nvPr userDrawn="1"/>
        </p:nvSpPr>
        <p:spPr>
          <a:xfrm rot="10800000">
            <a:off x="2439493" y="32873"/>
            <a:ext cx="7659006" cy="540000"/>
          </a:xfrm>
          <a:prstGeom prst="trapezoid">
            <a:avLst>
              <a:gd name="adj" fmla="val 570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 baseline="0" dirty="0"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5" y="65981"/>
            <a:ext cx="2302773" cy="54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4AE292B-977D-038B-74AC-FA0211D81F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49" b="26478"/>
          <a:stretch/>
        </p:blipFill>
        <p:spPr>
          <a:xfrm>
            <a:off x="10073893" y="32872"/>
            <a:ext cx="16562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aseline="0" dirty="0">
                <a:ea typeface="隶书" panose="02010509060101010101" pitchFamily="49" charset="-122"/>
              </a:rPr>
              <a:t>明德  厚学  求是  创新</a:t>
            </a:r>
          </a:p>
        </p:txBody>
      </p:sp>
      <p:sp>
        <p:nvSpPr>
          <p:cNvPr id="18" name="灯片编号占位符 1"/>
          <p:cNvSpPr txBox="1"/>
          <p:nvPr userDrawn="1"/>
        </p:nvSpPr>
        <p:spPr>
          <a:xfrm>
            <a:off x="9422478" y="6498000"/>
            <a:ext cx="2625863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9245BB-51C4-4167-81AE-066097AE39E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360000" y="175665"/>
            <a:ext cx="11466149" cy="6573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defRPr sz="3200" b="1" baseline="0">
                <a:solidFill>
                  <a:srgbClr val="D20B17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899679"/>
            <a:ext cx="12192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1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3CDC28B-B05E-477D-AEAD-CC166B745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52666" y="6356351"/>
            <a:ext cx="1236133" cy="365125"/>
          </a:xfrm>
          <a:ln/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DEF92D-CF10-41EC-B025-CF1B6427A32A}" type="slidenum">
              <a:rPr lang="zh-CN" alt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9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8F5EA1-5863-4082-A6B1-A4BF3942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63BE64-E82B-4B64-99BB-9F32DF735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8DC47-02ED-49D9-A4D2-7F4E09B1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39327-50F7-4C3D-B693-8D101C344A68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01FE8-3F35-4B5E-986C-205EF5004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FD542-DEB2-4239-8BA2-1218D20BB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F3D3C-10E0-41C5-B19D-C9354BF2C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65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6" r:id="rId4"/>
    <p:sldLayoutId id="2147483663" r:id="rId5"/>
    <p:sldLayoutId id="2147483664" r:id="rId6"/>
    <p:sldLayoutId id="214748366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" y="241662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研究主</a:t>
            </a:r>
            <a:r>
              <a:rPr lang="zh-CN" altLang="en-US" sz="4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题：机器学习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34322" y="87083"/>
            <a:ext cx="704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动力系统小组周例会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4801311"/>
            <a:ext cx="121920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汇报人：熊浩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06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2900-69C5-1631-5214-6A0B6A99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121F246-A07A-FB79-98AB-C87698C1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训练集与测试集划分</a:t>
            </a:r>
            <a:endParaRPr lang="zh-CN" altLang="en-US" dirty="0"/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A8FC3756-292A-F061-F604-D97AD435F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2" y="1168842"/>
            <a:ext cx="7104573" cy="50270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E6F8789-7257-508A-2B5E-23829BA9A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928" y="1789277"/>
            <a:ext cx="4204880" cy="18930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3647C4C-DBA8-0A2C-1DB6-F8CA45756535}"/>
              </a:ext>
            </a:extLst>
          </p:cNvPr>
          <p:cNvSpPr txBox="1"/>
          <p:nvPr/>
        </p:nvSpPr>
        <p:spPr>
          <a:xfrm>
            <a:off x="8968370" y="14199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混淆矩阵</a:t>
            </a:r>
          </a:p>
        </p:txBody>
      </p:sp>
    </p:spTree>
    <p:extLst>
      <p:ext uri="{BB962C8B-B14F-4D97-AF65-F5344CB8AC3E}">
        <p14:creationId xmlns:p14="http://schemas.microsoft.com/office/powerpoint/2010/main" val="111991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6D723-0E15-F99E-8AB4-0022CA72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ED71E0A-F95B-6892-CEF7-4CA670A4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B96132-0DE8-D770-46CE-000C89DFF221}"/>
              </a:ext>
            </a:extLst>
          </p:cNvPr>
          <p:cNvSpPr txBox="1"/>
          <p:nvPr/>
        </p:nvSpPr>
        <p:spPr>
          <a:xfrm>
            <a:off x="339365" y="1131216"/>
            <a:ext cx="3433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1</a:t>
            </a:r>
            <a:r>
              <a:rPr lang="zh-CN" altLang="en-US" sz="2400" b="1">
                <a:solidFill>
                  <a:srgbClr val="C00000"/>
                </a:solidFill>
              </a:rPr>
              <a:t>节：聚类有效性指标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7C7C26-25BF-CB7E-15B3-3BD44D44E6D2}"/>
              </a:ext>
            </a:extLst>
          </p:cNvPr>
          <p:cNvSpPr txBox="1"/>
          <p:nvPr/>
        </p:nvSpPr>
        <p:spPr>
          <a:xfrm>
            <a:off x="3382173" y="1723621"/>
            <a:ext cx="4817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理想的聚类结果：“簇内相似度”高且“簇间相似度”低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0A8DA5-75F0-ECC4-AD9A-19674B2DC610}"/>
              </a:ext>
            </a:extLst>
          </p:cNvPr>
          <p:cNvSpPr txBox="1"/>
          <p:nvPr/>
        </p:nvSpPr>
        <p:spPr>
          <a:xfrm>
            <a:off x="2025798" y="2100621"/>
            <a:ext cx="8327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“外部指标”：</a:t>
            </a:r>
            <a:r>
              <a:rPr lang="zh-CN" altLang="en-US" sz="1600"/>
              <a:t>将聚类结果与某个“参考模型”进行比较，如</a:t>
            </a:r>
            <a:r>
              <a:rPr lang="en-US" altLang="zh-CN" sz="1600" b="1"/>
              <a:t>Jaccard(JC)</a:t>
            </a:r>
            <a:r>
              <a:rPr lang="zh-CN" altLang="en-US" sz="1600" b="1"/>
              <a:t>系数</a:t>
            </a:r>
            <a:r>
              <a:rPr lang="en-US" altLang="zh-CN" sz="1600"/>
              <a:t>,</a:t>
            </a:r>
            <a:r>
              <a:rPr lang="en-US" altLang="zh-CN" sz="1600" b="1"/>
              <a:t>FM</a:t>
            </a:r>
            <a:r>
              <a:rPr lang="zh-CN" altLang="en-US" sz="1600" b="1"/>
              <a:t>指数</a:t>
            </a:r>
            <a:r>
              <a:rPr lang="en-US" altLang="zh-CN" sz="1600"/>
              <a:t>,</a:t>
            </a:r>
            <a:r>
              <a:rPr lang="en-US" altLang="zh-CN" sz="1600" b="1"/>
              <a:t>Rand</a:t>
            </a:r>
            <a:r>
              <a:rPr lang="zh-CN" altLang="en-US" sz="1600" b="1"/>
              <a:t>指数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74AE0526-C28E-3CEE-E206-DFD70AB65EAF}"/>
              </a:ext>
            </a:extLst>
          </p:cNvPr>
          <p:cNvSpPr/>
          <p:nvPr/>
        </p:nvSpPr>
        <p:spPr>
          <a:xfrm>
            <a:off x="1820848" y="2269898"/>
            <a:ext cx="204950" cy="4573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70D5B4-0811-0DA9-E5A8-4024B2368126}"/>
              </a:ext>
            </a:extLst>
          </p:cNvPr>
          <p:cNvSpPr txBox="1"/>
          <p:nvPr/>
        </p:nvSpPr>
        <p:spPr>
          <a:xfrm>
            <a:off x="2025798" y="2516067"/>
            <a:ext cx="5862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“内部指标”：</a:t>
            </a:r>
            <a:r>
              <a:rPr lang="zh-CN" altLang="en-US" sz="1600"/>
              <a:t>直接考察聚类结果，如</a:t>
            </a:r>
            <a:r>
              <a:rPr lang="en-US" altLang="zh-CN" sz="1600" b="1"/>
              <a:t>DB</a:t>
            </a:r>
            <a:r>
              <a:rPr lang="zh-CN" altLang="en-US" sz="1600" b="1"/>
              <a:t>指数</a:t>
            </a:r>
            <a:r>
              <a:rPr lang="en-US" altLang="zh-CN" sz="1600" b="1"/>
              <a:t>(DBI)</a:t>
            </a:r>
            <a:r>
              <a:rPr lang="en-US" altLang="zh-CN" sz="1600"/>
              <a:t>,</a:t>
            </a:r>
            <a:r>
              <a:rPr lang="en-US" altLang="zh-CN" sz="1600" b="1"/>
              <a:t>Dunn</a:t>
            </a:r>
            <a:r>
              <a:rPr lang="zh-CN" altLang="en-US" sz="1600" b="1"/>
              <a:t>指数</a:t>
            </a:r>
            <a:r>
              <a:rPr lang="en-US" altLang="zh-CN" sz="1600" b="1"/>
              <a:t>(DI)</a:t>
            </a:r>
            <a:endParaRPr lang="zh-CN" altLang="en-US" sz="1600" b="1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2B0C04-DFF2-D01C-FAB4-F5DF5CB10B72}"/>
              </a:ext>
            </a:extLst>
          </p:cNvPr>
          <p:cNvCxnSpPr>
            <a:cxnSpLocks/>
          </p:cNvCxnSpPr>
          <p:nvPr/>
        </p:nvCxnSpPr>
        <p:spPr>
          <a:xfrm>
            <a:off x="5939624" y="3116912"/>
            <a:ext cx="0" cy="3275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D5B14895-EF14-A7DD-BB81-28BCEA3EB8FF}"/>
              </a:ext>
            </a:extLst>
          </p:cNvPr>
          <p:cNvPicPr>
            <a:picLocks/>
          </p:cNvPicPr>
          <p:nvPr/>
        </p:nvPicPr>
        <p:blipFill>
          <a:blip r:embed="rId3"/>
          <a:srcRect b="45276"/>
          <a:stretch>
            <a:fillRect/>
          </a:stretch>
        </p:blipFill>
        <p:spPr>
          <a:xfrm>
            <a:off x="-1" y="2870023"/>
            <a:ext cx="5732889" cy="35228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FAFE64-ED0E-E1E5-45D4-223FAACF2AD7}"/>
              </a:ext>
            </a:extLst>
          </p:cNvPr>
          <p:cNvPicPr>
            <a:picLocks/>
          </p:cNvPicPr>
          <p:nvPr/>
        </p:nvPicPr>
        <p:blipFill>
          <a:blip r:embed="rId3"/>
          <a:srcRect t="55652"/>
          <a:stretch>
            <a:fillRect/>
          </a:stretch>
        </p:blipFill>
        <p:spPr>
          <a:xfrm>
            <a:off x="6016656" y="3116912"/>
            <a:ext cx="5926201" cy="318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3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6545-943C-0FF4-D6DA-E49232A3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2EB1963-DD8B-E0EC-68B3-B10E49B1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93995D-7FEB-9600-1EA0-187A834F6F94}"/>
              </a:ext>
            </a:extLst>
          </p:cNvPr>
          <p:cNvSpPr txBox="1"/>
          <p:nvPr/>
        </p:nvSpPr>
        <p:spPr>
          <a:xfrm>
            <a:off x="339365" y="1131216"/>
            <a:ext cx="251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>
                <a:solidFill>
                  <a:srgbClr val="C00000"/>
                </a:solidFill>
              </a:rPr>
              <a:t>节：原型聚类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66EAB0-FA0B-4760-D19C-78904211F6B4}"/>
              </a:ext>
            </a:extLst>
          </p:cNvPr>
          <p:cNvSpPr txBox="1"/>
          <p:nvPr/>
        </p:nvSpPr>
        <p:spPr>
          <a:xfrm>
            <a:off x="83015" y="1611618"/>
            <a:ext cx="2374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</a:rPr>
              <a:t>K</a:t>
            </a:r>
            <a:r>
              <a:rPr lang="zh-CN" altLang="en-US" sz="1600" b="1">
                <a:solidFill>
                  <a:srgbClr val="C00000"/>
                </a:solidFill>
              </a:rPr>
              <a:t>均值算法</a:t>
            </a:r>
            <a:r>
              <a:rPr lang="zh-CN" altLang="en-US" sz="1600" b="1"/>
              <a:t>（</a:t>
            </a:r>
            <a:r>
              <a:rPr lang="en-US" altLang="zh-CN" sz="1600" b="1"/>
              <a:t>K-means</a:t>
            </a:r>
            <a:r>
              <a:rPr lang="zh-CN" altLang="en-US" sz="1600" b="1"/>
              <a:t>）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E551AC1-FCE8-7DCA-AEB4-EA1757046772}"/>
              </a:ext>
            </a:extLst>
          </p:cNvPr>
          <p:cNvGrpSpPr/>
          <p:nvPr/>
        </p:nvGrpSpPr>
        <p:grpSpPr>
          <a:xfrm>
            <a:off x="83015" y="2136013"/>
            <a:ext cx="5848659" cy="2165017"/>
            <a:chOff x="65878" y="1992617"/>
            <a:chExt cx="6557772" cy="216501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17AA4E2-7520-C642-3F5C-0E3956B12C9E}"/>
                </a:ext>
              </a:extLst>
            </p:cNvPr>
            <p:cNvSpPr txBox="1"/>
            <p:nvPr/>
          </p:nvSpPr>
          <p:spPr>
            <a:xfrm>
              <a:off x="98033" y="1992617"/>
              <a:ext cx="41344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1.</a:t>
              </a:r>
              <a:r>
                <a:rPr lang="zh-CN" altLang="en-US" sz="1600"/>
                <a:t>随机选取</a:t>
              </a:r>
              <a:r>
                <a:rPr lang="en-US" altLang="zh-CN" sz="1600"/>
                <a:t>k</a:t>
              </a:r>
              <a:r>
                <a:rPr lang="zh-CN" altLang="en-US" sz="1600"/>
                <a:t>个样本作为聚类的初始中心</a:t>
              </a:r>
              <a:endParaRPr lang="en-US" altLang="zh-CN" sz="1600"/>
            </a:p>
            <a:p>
              <a:r>
                <a:rPr lang="zh-CN" altLang="en-US" sz="1400" b="1"/>
                <a:t>注意</a:t>
              </a:r>
              <a:r>
                <a:rPr lang="zh-CN" altLang="en-US" sz="1400"/>
                <a:t>：由于初始化随机，该算法有可能是局部最优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379A0EC-0DA5-0C24-6AD0-CC23F03124BB}"/>
                </a:ext>
              </a:extLst>
            </p:cNvPr>
            <p:cNvSpPr txBox="1"/>
            <p:nvPr/>
          </p:nvSpPr>
          <p:spPr>
            <a:xfrm>
              <a:off x="98034" y="2579710"/>
              <a:ext cx="65256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/>
                <a:t>2.</a:t>
              </a:r>
              <a:r>
                <a:rPr lang="zh-CN" altLang="en-US" sz="1600"/>
                <a:t>计算各样本与中心的距离分成不同簇</a:t>
              </a:r>
              <a:endParaRPr lang="en-US" altLang="zh-CN" sz="1600"/>
            </a:p>
            <a:p>
              <a:r>
                <a:rPr lang="zh-CN" altLang="en-US" sz="1400" b="1"/>
                <a:t>注意</a:t>
              </a:r>
              <a:r>
                <a:rPr lang="zh-CN" altLang="en-US" sz="1400"/>
                <a:t>：此处的距离为相似性的度量量，两点的距离越小，其特征值越接近，认为越相似</a:t>
              </a:r>
              <a:endParaRPr lang="en-US" altLang="zh-CN" sz="14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B7CCF6-B691-42CB-FB66-A2A8384B87A6}"/>
                </a:ext>
              </a:extLst>
            </p:cNvPr>
            <p:cNvSpPr txBox="1"/>
            <p:nvPr/>
          </p:nvSpPr>
          <p:spPr>
            <a:xfrm>
              <a:off x="82717" y="3355098"/>
              <a:ext cx="3414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3.</a:t>
              </a:r>
              <a:r>
                <a:rPr lang="zh-CN" altLang="en-US" sz="1600"/>
                <a:t>按照当前的分簇重新计算新的中心</a:t>
              </a:r>
              <a:endParaRPr lang="en-US" altLang="zh-CN" sz="160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29861BC-30B4-0998-064F-4F8FF77B3C4C}"/>
                </a:ext>
              </a:extLst>
            </p:cNvPr>
            <p:cNvSpPr txBox="1"/>
            <p:nvPr/>
          </p:nvSpPr>
          <p:spPr>
            <a:xfrm>
              <a:off x="65878" y="3819080"/>
              <a:ext cx="3825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4.</a:t>
              </a:r>
              <a:r>
                <a:rPr lang="zh-CN" altLang="en-US" sz="1600"/>
                <a:t>直到中心坐标不变或达到最大迭代次数</a:t>
              </a:r>
              <a:endParaRPr lang="en-US" altLang="zh-CN" sz="160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89E6886-BF91-90CA-ACBB-1B8C5FAED6E6}"/>
              </a:ext>
            </a:extLst>
          </p:cNvPr>
          <p:cNvGrpSpPr/>
          <p:nvPr/>
        </p:nvGrpSpPr>
        <p:grpSpPr>
          <a:xfrm>
            <a:off x="98033" y="4697762"/>
            <a:ext cx="6157182" cy="1832039"/>
            <a:chOff x="82718" y="3894745"/>
            <a:chExt cx="6157182" cy="183203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F31F3EB-3927-0A21-37CD-87BA4D07E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18" y="3915996"/>
              <a:ext cx="1511959" cy="147027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86E2BF0-2755-E68B-50C7-D9CA60CDE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2303" y="3911796"/>
              <a:ext cx="1537597" cy="1491527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13D0FA3-76B8-EB92-AFBE-F02A04F0F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4677" y="3894745"/>
              <a:ext cx="1519222" cy="149152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9E24C7E-D8DA-3D0E-C42D-3120C3572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8061" y="3918970"/>
              <a:ext cx="1540080" cy="1491527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6D3B097-69FB-C9A6-D976-3F733EEFFA59}"/>
                </a:ext>
              </a:extLst>
            </p:cNvPr>
            <p:cNvSpPr txBox="1"/>
            <p:nvPr/>
          </p:nvSpPr>
          <p:spPr>
            <a:xfrm>
              <a:off x="1897176" y="5419007"/>
              <a:ext cx="24817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/>
                <a:t>随着迭代次数的</a:t>
              </a:r>
              <a:r>
                <a:rPr lang="en-US" altLang="zh-CN" sz="1400"/>
                <a:t>k-means</a:t>
              </a:r>
              <a:r>
                <a:rPr lang="zh-CN" altLang="en-US" sz="1400"/>
                <a:t>算法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4933085-DA36-F5F7-E9BA-92D03E094D2B}"/>
              </a:ext>
            </a:extLst>
          </p:cNvPr>
          <p:cNvSpPr txBox="1"/>
          <p:nvPr/>
        </p:nvSpPr>
        <p:spPr>
          <a:xfrm>
            <a:off x="6230681" y="1611618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学习向量量化</a:t>
            </a:r>
            <a:r>
              <a:rPr lang="zh-CN" altLang="en-US" sz="1600" b="1"/>
              <a:t>（</a:t>
            </a:r>
            <a:r>
              <a:rPr lang="en-US" altLang="zh-CN" sz="1600" b="1"/>
              <a:t>LVQ</a:t>
            </a:r>
            <a:r>
              <a:rPr lang="zh-CN" altLang="en-US" sz="1600" b="1"/>
              <a:t>）</a:t>
            </a:r>
            <a:r>
              <a:rPr lang="en-US" altLang="zh-CN" sz="1600" b="1"/>
              <a:t>——</a:t>
            </a:r>
            <a:r>
              <a:rPr lang="zh-CN" altLang="en-US" sz="1600" b="1"/>
              <a:t>与</a:t>
            </a:r>
            <a:r>
              <a:rPr lang="en-US" altLang="zh-CN" sz="1600" b="1"/>
              <a:t>k-means</a:t>
            </a:r>
            <a:r>
              <a:rPr lang="zh-CN" altLang="en-US" sz="1600" b="1"/>
              <a:t>原理类似的</a:t>
            </a:r>
            <a:r>
              <a:rPr lang="zh-CN" altLang="en-US" sz="1600" b="1">
                <a:highlight>
                  <a:srgbClr val="FFFF00"/>
                </a:highlight>
              </a:rPr>
              <a:t>有监督分类算法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C33BAB4-794F-3F21-CBC7-1B70D6F2BE08}"/>
              </a:ext>
            </a:extLst>
          </p:cNvPr>
          <p:cNvGrpSpPr/>
          <p:nvPr/>
        </p:nvGrpSpPr>
        <p:grpSpPr>
          <a:xfrm>
            <a:off x="6230681" y="2136013"/>
            <a:ext cx="6082114" cy="3016997"/>
            <a:chOff x="98033" y="1992617"/>
            <a:chExt cx="6819532" cy="301699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5A5A27B-DB1A-E2F1-3DBD-1266A13BA3F9}"/>
                </a:ext>
              </a:extLst>
            </p:cNvPr>
            <p:cNvSpPr txBox="1"/>
            <p:nvPr/>
          </p:nvSpPr>
          <p:spPr>
            <a:xfrm>
              <a:off x="98033" y="1992617"/>
              <a:ext cx="34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1.</a:t>
              </a:r>
              <a:r>
                <a:rPr lang="zh-CN" altLang="en-US" sz="1600"/>
                <a:t>随机选取</a:t>
              </a:r>
              <a:r>
                <a:rPr lang="en-US" altLang="zh-CN" sz="1600"/>
                <a:t>k</a:t>
              </a:r>
              <a:r>
                <a:rPr lang="zh-CN" altLang="en-US" sz="1600"/>
                <a:t>个样本作为原型向量</a:t>
              </a:r>
              <a:endParaRPr lang="en-US" altLang="zh-CN" sz="160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C67DDF3-C309-4459-EA07-DDEF756A14A9}"/>
                </a:ext>
              </a:extLst>
            </p:cNvPr>
            <p:cNvSpPr txBox="1"/>
            <p:nvPr/>
          </p:nvSpPr>
          <p:spPr>
            <a:xfrm>
              <a:off x="98033" y="2359245"/>
              <a:ext cx="65256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/>
                <a:t>2.</a:t>
              </a:r>
              <a:r>
                <a:rPr lang="zh-CN" altLang="en-US" sz="1600"/>
                <a:t>随机选取有标签样本，找出与其距离最近的原型向量</a:t>
              </a:r>
              <a:endParaRPr lang="en-US" altLang="zh-CN" sz="16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E777D3A-FEE2-760A-1CCD-10264E8F1272}"/>
                </a:ext>
              </a:extLst>
            </p:cNvPr>
            <p:cNvSpPr txBox="1"/>
            <p:nvPr/>
          </p:nvSpPr>
          <p:spPr>
            <a:xfrm>
              <a:off x="98033" y="2758780"/>
              <a:ext cx="6819532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3.</a:t>
              </a:r>
              <a:r>
                <a:rPr lang="zh-CN" altLang="en-US" sz="1600"/>
                <a:t>对比标签，如果分类正确，更新原型向量，让</a:t>
              </a:r>
              <a:r>
                <a:rPr lang="zh-CN" altLang="zh-CN" sz="1600"/>
                <a:t>原型靠近</a:t>
              </a:r>
              <a:r>
                <a:rPr lang="zh-CN" altLang="en-US" sz="1600"/>
                <a:t>该</a:t>
              </a:r>
              <a:r>
                <a:rPr lang="zh-CN" altLang="zh-CN" sz="1600"/>
                <a:t>样本</a:t>
              </a:r>
              <a:r>
                <a:rPr lang="zh-CN" altLang="en-US" sz="1600"/>
                <a:t>：</a:t>
              </a:r>
              <a:endParaRPr lang="en-US" altLang="zh-CN" sz="1600"/>
            </a:p>
            <a:p>
              <a:endParaRPr lang="en-US" altLang="zh-CN" sz="1600"/>
            </a:p>
            <a:p>
              <a:endParaRPr lang="en-US" altLang="zh-CN" sz="1600"/>
            </a:p>
            <a:p>
              <a:r>
                <a:rPr lang="zh-CN" altLang="en-US" sz="1600"/>
                <a:t>   如果分类错误，更新原型向量，让原型原理该样本：</a:t>
              </a:r>
              <a:endParaRPr lang="en-US" altLang="zh-CN" sz="1600"/>
            </a:p>
            <a:p>
              <a:endParaRPr lang="en-US" altLang="zh-CN" sz="1600"/>
            </a:p>
            <a:p>
              <a:endParaRPr lang="en-US" altLang="zh-CN" sz="1600"/>
            </a:p>
            <a:p>
              <a:r>
                <a:rPr lang="en-US" altLang="zh-CN" sz="1600"/>
                <a:t>   </a:t>
              </a:r>
              <a:r>
                <a:rPr lang="zh-CN" altLang="en-US" sz="1600"/>
                <a:t>其中</a:t>
              </a:r>
              <a:r>
                <a:rPr lang="en-US" altLang="zh-CN" sz="1600"/>
                <a:t>w(t+1)</a:t>
              </a:r>
              <a:r>
                <a:rPr lang="zh-CN" altLang="en-US" sz="1600"/>
                <a:t>为新原型向量，</a:t>
              </a:r>
              <a:r>
                <a:rPr lang="en-US" altLang="zh-CN" sz="1600"/>
                <a:t>η</a:t>
              </a:r>
              <a:r>
                <a:rPr lang="zh-CN" altLang="en-US" sz="1600"/>
                <a:t>为学习率∈</a:t>
              </a:r>
              <a:r>
                <a:rPr lang="en-US" altLang="zh-CN" sz="1600"/>
                <a:t>(0,1)</a:t>
              </a:r>
              <a:r>
                <a:rPr lang="zh-CN" altLang="en-US" sz="1600"/>
                <a:t>，</a:t>
              </a:r>
              <a:r>
                <a:rPr lang="en-US" altLang="zh-CN" sz="1600"/>
                <a:t>x</a:t>
              </a:r>
              <a:r>
                <a:rPr lang="zh-CN" altLang="en-US" sz="1600"/>
                <a:t>为样本向量。</a:t>
              </a:r>
              <a:endParaRPr lang="en-US" altLang="zh-CN" sz="160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8C44EB0-6A4F-125A-7CE8-8A0F147EDFD2}"/>
                </a:ext>
              </a:extLst>
            </p:cNvPr>
            <p:cNvSpPr txBox="1"/>
            <p:nvPr/>
          </p:nvSpPr>
          <p:spPr>
            <a:xfrm>
              <a:off x="98033" y="4671060"/>
              <a:ext cx="1758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4.</a:t>
              </a:r>
              <a:r>
                <a:rPr lang="zh-CN" altLang="en-US" sz="1600"/>
                <a:t>直到算法收敛</a:t>
              </a:r>
              <a:endParaRPr lang="en-US" altLang="zh-CN" sz="1600"/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43CEB255-7297-C9D0-7DBD-C3ED116C6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3322" y="3252354"/>
            <a:ext cx="2534698" cy="376861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07ED224E-D0DD-177E-CB33-3F5ECD5EC3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322" y="3962476"/>
            <a:ext cx="2509755" cy="35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3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2989-49B6-9999-F6C5-06699E42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4FC4AA0-713F-8B6B-0D0F-C4B186FE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2B960-4755-6680-0916-3F10B133ED6F}"/>
              </a:ext>
            </a:extLst>
          </p:cNvPr>
          <p:cNvSpPr txBox="1"/>
          <p:nvPr/>
        </p:nvSpPr>
        <p:spPr>
          <a:xfrm>
            <a:off x="339365" y="1131216"/>
            <a:ext cx="251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>
                <a:solidFill>
                  <a:srgbClr val="C00000"/>
                </a:solidFill>
              </a:rPr>
              <a:t>节：原型聚类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FB7A84-6F69-36FE-C14F-CA0D40679E2F}"/>
              </a:ext>
            </a:extLst>
          </p:cNvPr>
          <p:cNvSpPr txBox="1"/>
          <p:nvPr/>
        </p:nvSpPr>
        <p:spPr>
          <a:xfrm>
            <a:off x="339365" y="1535275"/>
            <a:ext cx="5194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硬分</a:t>
            </a:r>
            <a:r>
              <a:rPr lang="zh-CN" altLang="en-US" sz="1600"/>
              <a:t>：一个样本只能属于一个类别</a:t>
            </a:r>
            <a:r>
              <a:rPr lang="en-US" altLang="zh-CN" sz="1600"/>
              <a:t>——k-means</a:t>
            </a:r>
            <a:r>
              <a:rPr lang="zh-CN" altLang="en-US" sz="1600"/>
              <a:t>、</a:t>
            </a:r>
            <a:r>
              <a:rPr lang="en-US" altLang="zh-CN" sz="1600"/>
              <a:t>LVQ</a:t>
            </a:r>
          </a:p>
          <a:p>
            <a:r>
              <a:rPr lang="zh-CN" altLang="en-US" sz="1600" b="1"/>
              <a:t>软分</a:t>
            </a:r>
            <a:r>
              <a:rPr lang="zh-CN" altLang="en-US" sz="1600"/>
              <a:t>：一个样本可以以不同概率属于多个类别</a:t>
            </a:r>
            <a:r>
              <a:rPr lang="en-US" altLang="zh-CN" sz="1600"/>
              <a:t>——GMM</a:t>
            </a:r>
            <a:endParaRPr lang="zh-CN" altLang="en-US" sz="160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3243D4D-04C6-029B-5ADC-49831D3D2725}"/>
              </a:ext>
            </a:extLst>
          </p:cNvPr>
          <p:cNvGrpSpPr/>
          <p:nvPr/>
        </p:nvGrpSpPr>
        <p:grpSpPr>
          <a:xfrm>
            <a:off x="339365" y="2607097"/>
            <a:ext cx="3929281" cy="2130854"/>
            <a:chOff x="339365" y="2403739"/>
            <a:chExt cx="3929281" cy="213085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0ACF273-B4AD-FCC6-410B-26F08BFD84A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b="63891"/>
            <a:stretch>
              <a:fillRect/>
            </a:stretch>
          </p:blipFill>
          <p:spPr>
            <a:xfrm>
              <a:off x="339365" y="2745034"/>
              <a:ext cx="2310944" cy="768415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3962BDD-4118-0089-89FC-5A0633D1B15E}"/>
                </a:ext>
              </a:extLst>
            </p:cNvPr>
            <p:cNvSpPr txBox="1"/>
            <p:nvPr/>
          </p:nvSpPr>
          <p:spPr>
            <a:xfrm>
              <a:off x="339365" y="2403739"/>
              <a:ext cx="13815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贝叶斯定理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4393CDA-92CC-ED29-1913-168114C1AC1F}"/>
                </a:ext>
              </a:extLst>
            </p:cNvPr>
            <p:cNvSpPr txBox="1"/>
            <p:nvPr/>
          </p:nvSpPr>
          <p:spPr>
            <a:xfrm>
              <a:off x="339365" y="3457375"/>
              <a:ext cx="392928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/>
                <a:t>P(A):</a:t>
              </a:r>
              <a:r>
                <a:rPr lang="zh-CN" altLang="en-US" sz="1600" b="1"/>
                <a:t>先验概率</a:t>
              </a:r>
              <a:r>
                <a:rPr lang="zh-CN" altLang="en-US" sz="1600"/>
                <a:t>：</a:t>
              </a:r>
              <a:r>
                <a:rPr lang="en-US" altLang="zh-CN" sz="1600"/>
                <a:t>A</a:t>
              </a:r>
              <a:r>
                <a:rPr lang="zh-CN" altLang="en-US" sz="1600"/>
                <a:t>原本发生的概率</a:t>
              </a:r>
              <a:endParaRPr lang="en-US" altLang="zh-CN" sz="1600"/>
            </a:p>
            <a:p>
              <a:r>
                <a:rPr lang="en-US" altLang="zh-CN" sz="1600" b="1"/>
                <a:t>P(A|B):</a:t>
              </a:r>
              <a:r>
                <a:rPr lang="zh-CN" altLang="en-US" sz="1600" b="1"/>
                <a:t>后验分布</a:t>
              </a:r>
              <a:r>
                <a:rPr lang="zh-CN" altLang="en-US" sz="1600"/>
                <a:t>：</a:t>
              </a:r>
              <a:r>
                <a:rPr lang="en-US" altLang="zh-CN" sz="1600"/>
                <a:t>B</a:t>
              </a:r>
              <a:r>
                <a:rPr lang="zh-CN" altLang="en-US" sz="1600"/>
                <a:t>发生时</a:t>
              </a:r>
              <a:r>
                <a:rPr lang="en-US" altLang="zh-CN" sz="1600"/>
                <a:t>A</a:t>
              </a:r>
              <a:r>
                <a:rPr lang="zh-CN" altLang="en-US" sz="1600"/>
                <a:t>会发生的概率</a:t>
              </a:r>
              <a:endParaRPr lang="en-US" altLang="zh-CN" sz="1600"/>
            </a:p>
            <a:p>
              <a:r>
                <a:rPr lang="en-US" altLang="zh-CN" sz="1600" b="1"/>
                <a:t>P(B|A):</a:t>
              </a:r>
              <a:r>
                <a:rPr lang="zh-CN" altLang="en-US" sz="1600" b="1"/>
                <a:t>似然度</a:t>
              </a:r>
              <a:r>
                <a:rPr lang="zh-CN" altLang="en-US" sz="1600"/>
                <a:t>：</a:t>
              </a:r>
              <a:r>
                <a:rPr lang="en-US" altLang="zh-CN" sz="1600"/>
                <a:t>A</a:t>
              </a:r>
              <a:r>
                <a:rPr lang="zh-CN" altLang="en-US" sz="1600"/>
                <a:t>发生时</a:t>
              </a:r>
              <a:r>
                <a:rPr lang="en-US" altLang="zh-CN" sz="1600"/>
                <a:t>B</a:t>
              </a:r>
              <a:r>
                <a:rPr lang="zh-CN" altLang="en-US" sz="1600"/>
                <a:t>发生的概率</a:t>
              </a:r>
              <a:endParaRPr lang="en-US" altLang="zh-CN" sz="1600"/>
            </a:p>
            <a:p>
              <a:r>
                <a:rPr lang="en-US" altLang="zh-CN" sz="1600" b="1"/>
                <a:t>P(B):</a:t>
              </a:r>
              <a:r>
                <a:rPr lang="zh-CN" altLang="en-US" sz="1600" b="1"/>
                <a:t>证据</a:t>
              </a:r>
              <a:r>
                <a:rPr lang="zh-CN" altLang="en-US" sz="1600"/>
                <a:t>：</a:t>
              </a:r>
              <a:r>
                <a:rPr lang="en-US" altLang="zh-CN" sz="1600"/>
                <a:t>B</a:t>
              </a:r>
              <a:r>
                <a:rPr lang="zh-CN" altLang="en-US" sz="1600"/>
                <a:t>发生的概率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A822DF5-426A-5718-F466-5710DEFF794A}"/>
              </a:ext>
            </a:extLst>
          </p:cNvPr>
          <p:cNvSpPr txBox="1"/>
          <p:nvPr/>
        </p:nvSpPr>
        <p:spPr>
          <a:xfrm>
            <a:off x="6248714" y="1493058"/>
            <a:ext cx="58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EM</a:t>
            </a:r>
            <a:r>
              <a:rPr lang="zh-CN" altLang="en-US" b="1">
                <a:solidFill>
                  <a:srgbClr val="C00000"/>
                </a:solidFill>
              </a:rPr>
              <a:t>算法（期望最大化）</a:t>
            </a:r>
            <a:r>
              <a:rPr lang="en-US" altLang="zh-CN" b="1">
                <a:solidFill>
                  <a:srgbClr val="C00000"/>
                </a:solidFill>
              </a:rPr>
              <a:t>——</a:t>
            </a:r>
            <a:r>
              <a:rPr lang="zh-CN" altLang="en-US" b="1">
                <a:solidFill>
                  <a:srgbClr val="C00000"/>
                </a:solidFill>
              </a:rPr>
              <a:t>迭代寻找最优参数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7531D9D-C744-9FC3-C120-E8610F7C63B8}"/>
              </a:ext>
            </a:extLst>
          </p:cNvPr>
          <p:cNvGrpSpPr/>
          <p:nvPr/>
        </p:nvGrpSpPr>
        <p:grpSpPr>
          <a:xfrm>
            <a:off x="327015" y="5126477"/>
            <a:ext cx="7019990" cy="808349"/>
            <a:chOff x="327015" y="4692079"/>
            <a:chExt cx="7019990" cy="808349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E8520A6-496D-3A6E-94D2-A5981787C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9644" y="5030633"/>
              <a:ext cx="2180690" cy="469795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B64B91E-C870-4849-AFD7-B07F7AFF69F4}"/>
                </a:ext>
              </a:extLst>
            </p:cNvPr>
            <p:cNvSpPr txBox="1"/>
            <p:nvPr/>
          </p:nvSpPr>
          <p:spPr>
            <a:xfrm>
              <a:off x="327015" y="4692079"/>
              <a:ext cx="701999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极大似然估计（</a:t>
              </a:r>
              <a:r>
                <a:rPr lang="en-US" altLang="zh-CN" sz="1600" b="1">
                  <a:solidFill>
                    <a:srgbClr val="C00000"/>
                  </a:solidFill>
                </a:rPr>
                <a:t>MLE</a:t>
              </a:r>
              <a:r>
                <a:rPr lang="zh-CN" altLang="en-US" sz="1600" b="1">
                  <a:solidFill>
                    <a:srgbClr val="C00000"/>
                  </a:solidFill>
                </a:rPr>
                <a:t>）：</a:t>
              </a:r>
              <a:r>
                <a:rPr lang="zh-CN" altLang="en-US" sz="1600"/>
                <a:t>找到参数</a:t>
              </a:r>
              <a:r>
                <a:rPr lang="en-US" altLang="zh-CN" sz="1600"/>
                <a:t>θ</a:t>
              </a:r>
              <a:r>
                <a:rPr lang="zh-CN" altLang="en-US" sz="1600"/>
                <a:t>使得</a:t>
              </a:r>
              <a:r>
                <a:rPr lang="en-US" altLang="zh-CN" sz="1600"/>
                <a:t>P</a:t>
              </a:r>
              <a:r>
                <a:rPr lang="zh-CN" altLang="en-US" sz="1600"/>
                <a:t>（</a:t>
              </a:r>
              <a:r>
                <a:rPr lang="en-US" altLang="zh-CN" sz="1600"/>
                <a:t>X|θ</a:t>
              </a:r>
              <a:r>
                <a:rPr lang="zh-CN" altLang="en-US" sz="1600"/>
                <a:t>）最大，也就是：</a:t>
              </a: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1FCD8710-CE2A-BBC4-C1B2-BDA3C59147B2}"/>
              </a:ext>
            </a:extLst>
          </p:cNvPr>
          <p:cNvPicPr>
            <a:picLocks/>
          </p:cNvPicPr>
          <p:nvPr/>
        </p:nvPicPr>
        <p:blipFill>
          <a:blip r:embed="rId5"/>
          <a:srcRect b="24464"/>
          <a:stretch>
            <a:fillRect/>
          </a:stretch>
        </p:blipFill>
        <p:spPr>
          <a:xfrm>
            <a:off x="6353092" y="1862389"/>
            <a:ext cx="5511893" cy="447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69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8C35-F9FB-9AF9-1A09-5DC6EB6B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0346B05-DEF3-443B-F1D5-5C8ED183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984BE4-C885-86B3-31A6-3F1CF7826235}"/>
              </a:ext>
            </a:extLst>
          </p:cNvPr>
          <p:cNvSpPr txBox="1"/>
          <p:nvPr/>
        </p:nvSpPr>
        <p:spPr>
          <a:xfrm>
            <a:off x="339365" y="1131216"/>
            <a:ext cx="251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>
                <a:solidFill>
                  <a:srgbClr val="C00000"/>
                </a:solidFill>
              </a:rPr>
              <a:t>节：原型聚类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33A0B1-2FBA-D268-684D-64D913C3F4DD}"/>
              </a:ext>
            </a:extLst>
          </p:cNvPr>
          <p:cNvSpPr txBox="1"/>
          <p:nvPr/>
        </p:nvSpPr>
        <p:spPr>
          <a:xfrm>
            <a:off x="339364" y="1713020"/>
            <a:ext cx="11683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高斯混合聚类（</a:t>
            </a:r>
            <a:r>
              <a:rPr lang="en-US" altLang="zh-CN" sz="1600" b="1">
                <a:solidFill>
                  <a:srgbClr val="C00000"/>
                </a:solidFill>
              </a:rPr>
              <a:t>GMM</a:t>
            </a:r>
            <a:r>
              <a:rPr lang="zh-CN" altLang="en-US" sz="1600" b="1">
                <a:solidFill>
                  <a:srgbClr val="C00000"/>
                </a:solidFill>
              </a:rPr>
              <a:t>）：</a:t>
            </a:r>
            <a:r>
              <a:rPr lang="zh-CN" altLang="en-US" sz="1600"/>
              <a:t>假设所有数据由多个</a:t>
            </a:r>
            <a:r>
              <a:rPr lang="zh-CN" altLang="en-US" sz="1600">
                <a:highlight>
                  <a:srgbClr val="FFFF00"/>
                </a:highlight>
              </a:rPr>
              <a:t>高斯分布</a:t>
            </a:r>
            <a:r>
              <a:rPr lang="zh-CN" altLang="en-US" sz="1600"/>
              <a:t>混合生成，每个高斯分布代表一个簇，通过概率判断样本属于哪个簇。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7E80A9-7BDD-6E7B-C424-628DFE0C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677" y="2411986"/>
            <a:ext cx="1620957" cy="60035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ECCC067-E071-0DED-81AC-EC9C15E8492E}"/>
              </a:ext>
            </a:extLst>
          </p:cNvPr>
          <p:cNvSpPr txBox="1"/>
          <p:nvPr/>
        </p:nvSpPr>
        <p:spPr>
          <a:xfrm>
            <a:off x="339364" y="2062503"/>
            <a:ext cx="82241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高斯混合分布</a:t>
            </a:r>
            <a:r>
              <a:rPr lang="zh-CN" altLang="en-US" sz="1600"/>
              <a:t>：分为</a:t>
            </a:r>
            <a:r>
              <a:rPr lang="en-US" altLang="zh-CN" sz="1600"/>
              <a:t>k</a:t>
            </a:r>
            <a:r>
              <a:rPr lang="zh-CN" altLang="en-US" sz="1600"/>
              <a:t>簇则设定为</a:t>
            </a:r>
            <a:r>
              <a:rPr lang="en-US" altLang="zh-CN" sz="1600"/>
              <a:t>k</a:t>
            </a:r>
            <a:r>
              <a:rPr lang="zh-CN" altLang="en-US" sz="1600"/>
              <a:t>个高斯分布混合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表示：</a:t>
            </a:r>
            <a:r>
              <a:rPr lang="zh-CN" altLang="zh-CN" sz="1600"/>
              <a:t>一个数据点出现的概率= 所有高斯分布贡献的加权和。</a:t>
            </a:r>
            <a:endParaRPr lang="en-US" altLang="zh-CN" sz="1600"/>
          </a:p>
          <a:p>
            <a:r>
              <a:rPr lang="zh-CN" altLang="en-US" sz="1600"/>
              <a:t>其中</a:t>
            </a:r>
            <a:r>
              <a:rPr lang="zh-CN" altLang="zh-CN" sz="1600"/>
              <a:t>πk​</a:t>
            </a:r>
            <a:r>
              <a:rPr lang="zh-CN" altLang="en-US" sz="1600"/>
              <a:t>为</a:t>
            </a:r>
            <a:r>
              <a:rPr lang="zh-CN" altLang="en-US" sz="1600" b="1"/>
              <a:t>混合系数</a:t>
            </a:r>
            <a:r>
              <a:rPr lang="zh-CN" altLang="en-US" sz="1600"/>
              <a:t>，表示</a:t>
            </a:r>
            <a:r>
              <a:rPr lang="zh-CN" altLang="zh-CN" sz="1600"/>
              <a:t>第k个簇的权重</a:t>
            </a: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8AD7D20A-8A12-016C-F3CB-0C7A83E3EC74}"/>
              </a:ext>
            </a:extLst>
          </p:cNvPr>
          <p:cNvSpPr/>
          <p:nvPr/>
        </p:nvSpPr>
        <p:spPr>
          <a:xfrm rot="5400000">
            <a:off x="2309739" y="3675706"/>
            <a:ext cx="190831" cy="341906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9DA069-60F5-808A-7DEA-63EA96F7E040}"/>
              </a:ext>
            </a:extLst>
          </p:cNvPr>
          <p:cNvSpPr txBox="1"/>
          <p:nvPr/>
        </p:nvSpPr>
        <p:spPr>
          <a:xfrm>
            <a:off x="568754" y="4061155"/>
            <a:ext cx="36728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/>
              <a:t>高斯混合分布中点出现的概率取决于：</a:t>
            </a:r>
            <a:endParaRPr lang="en-US" altLang="zh-CN" sz="1600"/>
          </a:p>
          <a:p>
            <a:pPr algn="ctr"/>
            <a:r>
              <a:rPr lang="en-US" altLang="zh-CN" sz="1600"/>
              <a:t>1.</a:t>
            </a:r>
            <a:r>
              <a:rPr lang="zh-CN" altLang="en-US" sz="1600"/>
              <a:t>均值向量</a:t>
            </a:r>
            <a:r>
              <a:rPr lang="en-US" altLang="zh-CN" sz="1600"/>
              <a:t>μk</a:t>
            </a:r>
          </a:p>
          <a:p>
            <a:pPr algn="ctr"/>
            <a:r>
              <a:rPr lang="en-US" altLang="zh-CN" sz="1600"/>
              <a:t>2.</a:t>
            </a:r>
            <a:r>
              <a:rPr lang="zh-CN" altLang="en-US" sz="1600"/>
              <a:t>协方差矩阵</a:t>
            </a:r>
            <a:r>
              <a:rPr lang="en-US" altLang="zh-CN" sz="1600"/>
              <a:t>Σk</a:t>
            </a:r>
          </a:p>
          <a:p>
            <a:pPr algn="ctr"/>
            <a:r>
              <a:rPr lang="en-US" altLang="zh-CN" sz="1600"/>
              <a:t>3.</a:t>
            </a:r>
            <a:r>
              <a:rPr lang="zh-CN" altLang="en-US" sz="1600"/>
              <a:t>混合系数</a:t>
            </a:r>
            <a:r>
              <a:rPr lang="zh-CN" altLang="zh-CN" sz="1600"/>
              <a:t>πk​</a:t>
            </a:r>
            <a:endParaRPr lang="zh-CN" altLang="en-US" sz="160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7A9343B-7D06-A9C8-4EB2-269749258C6B}"/>
              </a:ext>
            </a:extLst>
          </p:cNvPr>
          <p:cNvPicPr>
            <a:picLocks/>
          </p:cNvPicPr>
          <p:nvPr/>
        </p:nvPicPr>
        <p:blipFill>
          <a:blip r:embed="rId4"/>
          <a:srcRect l="18723" r="15680"/>
          <a:stretch>
            <a:fillRect/>
          </a:stretch>
        </p:blipFill>
        <p:spPr>
          <a:xfrm>
            <a:off x="6217181" y="2493358"/>
            <a:ext cx="4692748" cy="3696733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53A61985-EE04-C3F9-9168-A6B93AB39EC7}"/>
              </a:ext>
            </a:extLst>
          </p:cNvPr>
          <p:cNvSpPr/>
          <p:nvPr/>
        </p:nvSpPr>
        <p:spPr>
          <a:xfrm rot="5400000">
            <a:off x="2309739" y="5195130"/>
            <a:ext cx="190831" cy="341906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EABFDE-1686-1A61-A0BE-6FC615580ECD}"/>
              </a:ext>
            </a:extLst>
          </p:cNvPr>
          <p:cNvSpPr txBox="1"/>
          <p:nvPr/>
        </p:nvSpPr>
        <p:spPr>
          <a:xfrm>
            <a:off x="1202295" y="5593793"/>
            <a:ext cx="2517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EM</a:t>
            </a:r>
            <a:r>
              <a:rPr lang="zh-CN" altLang="en-US" sz="1600"/>
              <a:t>算法迭代求解模型参数</a:t>
            </a:r>
            <a:endParaRPr lang="en-US" altLang="zh-CN" sz="1600"/>
          </a:p>
          <a:p>
            <a:pPr algn="ctr"/>
            <a:r>
              <a:rPr lang="en-US" altLang="zh-CN" sz="1600"/>
              <a:t>{(</a:t>
            </a:r>
            <a:r>
              <a:rPr lang="zh-CN" altLang="zh-CN" sz="1600"/>
              <a:t>πk​</a:t>
            </a:r>
            <a:r>
              <a:rPr lang="en-US" altLang="zh-CN" sz="1600"/>
              <a:t>, μk, Σk)|1&lt;=i&lt;=k}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33637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6180A-5A05-B395-CC64-5F528DCA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FD439BFE-9B03-5EA4-9636-1910B23F083B}"/>
              </a:ext>
            </a:extLst>
          </p:cNvPr>
          <p:cNvPicPr>
            <a:picLocks/>
          </p:cNvPicPr>
          <p:nvPr/>
        </p:nvPicPr>
        <p:blipFill>
          <a:blip r:embed="rId3"/>
          <a:srcRect b="10694"/>
          <a:stretch>
            <a:fillRect/>
          </a:stretch>
        </p:blipFill>
        <p:spPr>
          <a:xfrm>
            <a:off x="9132726" y="2089170"/>
            <a:ext cx="2889645" cy="436526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D6FA67C-D0AC-6CF7-D44B-C0ACD689A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63" y="1886745"/>
            <a:ext cx="4989509" cy="171027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BD000FF-CFE6-9D57-2D4B-E83AD697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4B47D5-D91D-7BA7-866D-5DBC63A6FE9B}"/>
              </a:ext>
            </a:extLst>
          </p:cNvPr>
          <p:cNvSpPr txBox="1"/>
          <p:nvPr/>
        </p:nvSpPr>
        <p:spPr>
          <a:xfrm>
            <a:off x="339365" y="1131216"/>
            <a:ext cx="251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>
                <a:solidFill>
                  <a:srgbClr val="C00000"/>
                </a:solidFill>
              </a:rPr>
              <a:t>节：密度聚类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298DF-96A4-A15E-982B-7D9DABE3374B}"/>
              </a:ext>
            </a:extLst>
          </p:cNvPr>
          <p:cNvSpPr txBox="1"/>
          <p:nvPr/>
        </p:nvSpPr>
        <p:spPr>
          <a:xfrm>
            <a:off x="339364" y="1713020"/>
            <a:ext cx="116830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</a:rPr>
              <a:t>DBSCAN</a:t>
            </a:r>
            <a:r>
              <a:rPr lang="zh-CN" altLang="en-US" sz="1600" b="1">
                <a:solidFill>
                  <a:srgbClr val="C00000"/>
                </a:solidFill>
              </a:rPr>
              <a:t>算法：</a:t>
            </a:r>
            <a:r>
              <a:rPr lang="zh-CN" altLang="zh-CN" sz="1600"/>
              <a:t>通过寻找数据点密集的区域形成簇</a:t>
            </a:r>
            <a:r>
              <a:rPr lang="zh-CN" altLang="en-US" sz="1600"/>
              <a:t>，低密度区域视为噪声。</a:t>
            </a:r>
            <a:r>
              <a:rPr lang="zh-CN" altLang="zh-CN" sz="1600"/>
              <a:t> DBSCAN找到的簇可以是任何形状，而k-均值假设簇是凸形状的。</a:t>
            </a:r>
            <a:endParaRPr lang="zh-CN" altLang="en-US" sz="160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717278E-93C9-CD3E-5D5B-8899DC67ACE6}"/>
              </a:ext>
            </a:extLst>
          </p:cNvPr>
          <p:cNvGrpSpPr/>
          <p:nvPr/>
        </p:nvGrpSpPr>
        <p:grpSpPr>
          <a:xfrm>
            <a:off x="127219" y="2807807"/>
            <a:ext cx="3219664" cy="2963843"/>
            <a:chOff x="1129197" y="2762548"/>
            <a:chExt cx="3510092" cy="3388631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FC17609-388B-0AC6-7604-7ADCE5C08A61}"/>
                </a:ext>
              </a:extLst>
            </p:cNvPr>
            <p:cNvGrpSpPr/>
            <p:nvPr/>
          </p:nvGrpSpPr>
          <p:grpSpPr>
            <a:xfrm>
              <a:off x="1129197" y="2762548"/>
              <a:ext cx="1913307" cy="3347641"/>
              <a:chOff x="1129197" y="2762548"/>
              <a:chExt cx="1913307" cy="3347641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603B915C-67A8-84B8-0ACC-EE835636A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9198" y="2762548"/>
                <a:ext cx="1755045" cy="1339057"/>
              </a:xfrm>
              <a:prstGeom prst="rect">
                <a:avLst/>
              </a:prstGeom>
            </p:spPr>
          </p:pic>
          <p:sp>
            <p:nvSpPr>
              <p:cNvPr id="6" name="箭头: 下 5">
                <a:extLst>
                  <a:ext uri="{FF2B5EF4-FFF2-40B4-BE49-F238E27FC236}">
                    <a16:creationId xmlns:a16="http://schemas.microsoft.com/office/drawing/2014/main" id="{4FE5C31D-F5DA-FAD1-8A19-83404F73D372}"/>
                  </a:ext>
                </a:extLst>
              </p:cNvPr>
              <p:cNvSpPr/>
              <p:nvPr/>
            </p:nvSpPr>
            <p:spPr>
              <a:xfrm>
                <a:off x="1925571" y="4187229"/>
                <a:ext cx="174928" cy="498281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9C87EB4-1172-53CB-2C3F-2A4E249495D8}"/>
                  </a:ext>
                </a:extLst>
              </p:cNvPr>
              <p:cNvSpPr txBox="1"/>
              <p:nvPr/>
            </p:nvSpPr>
            <p:spPr>
              <a:xfrm>
                <a:off x="2064351" y="4272852"/>
                <a:ext cx="9781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/>
                  <a:t>K-means</a:t>
                </a:r>
                <a:endParaRPr lang="zh-CN" altLang="en-US" sz="1600"/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6EC702B3-D38F-99BD-DC62-F703717CC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9197" y="4771133"/>
                <a:ext cx="1721369" cy="1339056"/>
              </a:xfrm>
              <a:prstGeom prst="rect">
                <a:avLst/>
              </a:prstGeom>
            </p:spPr>
          </p:pic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1ECD0F9-16BD-AECD-6B32-C4DAFF677940}"/>
                </a:ext>
              </a:extLst>
            </p:cNvPr>
            <p:cNvGrpSpPr/>
            <p:nvPr/>
          </p:nvGrpSpPr>
          <p:grpSpPr>
            <a:xfrm>
              <a:off x="2884243" y="2768308"/>
              <a:ext cx="1755045" cy="1949671"/>
              <a:chOff x="743423" y="2762548"/>
              <a:chExt cx="1755045" cy="1949671"/>
            </a:xfrm>
          </p:grpSpPr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00F322BD-95B7-FF5A-61AF-A8A2A2455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3423" y="2762548"/>
                <a:ext cx="1755045" cy="1339057"/>
              </a:xfrm>
              <a:prstGeom prst="rect">
                <a:avLst/>
              </a:prstGeom>
            </p:spPr>
          </p:pic>
          <p:sp>
            <p:nvSpPr>
              <p:cNvPr id="19" name="箭头: 下 18">
                <a:extLst>
                  <a:ext uri="{FF2B5EF4-FFF2-40B4-BE49-F238E27FC236}">
                    <a16:creationId xmlns:a16="http://schemas.microsoft.com/office/drawing/2014/main" id="{C9FECB93-E98E-EBA0-4756-848B68550BBD}"/>
                  </a:ext>
                </a:extLst>
              </p:cNvPr>
              <p:cNvSpPr/>
              <p:nvPr/>
            </p:nvSpPr>
            <p:spPr>
              <a:xfrm>
                <a:off x="1526865" y="4213938"/>
                <a:ext cx="174928" cy="498281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A11714-9ADB-9D21-0A94-24835C42A754}"/>
                  </a:ext>
                </a:extLst>
              </p:cNvPr>
              <p:cNvSpPr txBox="1"/>
              <p:nvPr/>
            </p:nvSpPr>
            <p:spPr>
              <a:xfrm>
                <a:off x="1643746" y="4281827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/>
                  <a:t>DBScan</a:t>
                </a:r>
                <a:endParaRPr lang="zh-CN" altLang="en-US" sz="1600"/>
              </a:p>
            </p:txBody>
          </p:sp>
        </p:grp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9091720-55F7-97BF-CEF2-2B59F3D85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93802" y="4788413"/>
              <a:ext cx="1745487" cy="136276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412BB9-8462-8B86-A1D9-76D040D97941}"/>
                  </a:ext>
                </a:extLst>
              </p:cNvPr>
              <p:cNvSpPr txBox="1"/>
              <p:nvPr/>
            </p:nvSpPr>
            <p:spPr>
              <a:xfrm>
                <a:off x="3236478" y="3597016"/>
                <a:ext cx="6120516" cy="2450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400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zh-CN" altLang="zh-CN" sz="1400" b="1">
                    <a:effectLst/>
                    <a:latin typeface="Google Sans Text"/>
                  </a:rPr>
                  <a:t>-邻域</a:t>
                </a:r>
                <a:r>
                  <a:rPr lang="zh-CN" altLang="zh-CN" sz="1400">
                    <a:effectLst/>
                    <a:latin typeface="Google Sans Text"/>
                  </a:rPr>
                  <a:t>：对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, 其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-邻域包含样本集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中与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的距离不大于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的样本，即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1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zh-CN" altLang="en-US" sz="1400" i="0">
                            <a:latin typeface="Cambria Math" panose="02040503050406030204" pitchFamily="18" charset="0"/>
                          </a:rPr>
                          <m:t>dist</m:t>
                        </m:r>
                        <m:d>
                          <m:d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4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1400" b="1">
                    <a:effectLst/>
                    <a:latin typeface="Google Sans Text"/>
                  </a:rPr>
                  <a:t>核心对象</a:t>
                </a:r>
                <a:r>
                  <a:rPr lang="zh-CN" altLang="zh-CN" sz="1400">
                    <a:effectLst/>
                    <a:latin typeface="Google Sans Text"/>
                  </a:rPr>
                  <a:t>(core object)：若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的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-邻域至少包含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𝑀𝑖𝑛𝑃𝑡𝑠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个样本，即 </a:t>
                </a:r>
                <a14:m>
                  <m:oMath xmlns:m="http://schemas.openxmlformats.org/officeDocument/2006/math">
                    <m:r>
                      <a:rPr lang="zh-CN" altLang="en-US" sz="140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1400" i="0">
                        <a:latin typeface="Cambria Math" panose="02040503050406030204" pitchFamily="18" charset="0"/>
                      </a:rPr>
                      <m:t>|≥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𝑀𝑖𝑛𝑃𝑡𝑠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是一个核心对象；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1400" b="1">
                    <a:effectLst/>
                    <a:latin typeface="Google Sans Text"/>
                  </a:rPr>
                  <a:t>密度直达</a:t>
                </a:r>
                <a:r>
                  <a:rPr lang="zh-CN" altLang="zh-CN" sz="1400">
                    <a:effectLst/>
                    <a:latin typeface="Google Sans Text"/>
                  </a:rPr>
                  <a:t>(directly density-reachable)：若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位于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的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-邻域中，且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是核心对象，则称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密度直达；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1400" b="1">
                    <a:effectLst/>
                    <a:latin typeface="Google Sans Text"/>
                  </a:rPr>
                  <a:t>密度可达</a:t>
                </a:r>
                <a:r>
                  <a:rPr lang="zh-CN" altLang="zh-CN" sz="1400">
                    <a:effectLst/>
                    <a:latin typeface="Google Sans Text"/>
                  </a:rPr>
                  <a:t>(density-reachable)：对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，若存在样本序列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, 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1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1400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密度直达，则称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密度可达；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1400" b="1">
                    <a:effectLst/>
                    <a:latin typeface="Google Sans Text"/>
                  </a:rPr>
                  <a:t>密度相连</a:t>
                </a:r>
                <a:r>
                  <a:rPr lang="zh-CN" altLang="zh-CN" sz="1400">
                    <a:effectLst/>
                    <a:latin typeface="Google Sans Text"/>
                  </a:rPr>
                  <a:t>(density-connected)：对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，若存在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使得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均由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密度可达，则称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400">
                    <a:effectLst/>
                    <a:latin typeface="Google Sans Text"/>
                  </a:rPr>
                  <a:t>密度相连.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412BB9-8462-8B86-A1D9-76D040D97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478" y="3597016"/>
                <a:ext cx="6120516" cy="2450671"/>
              </a:xfrm>
              <a:prstGeom prst="rect">
                <a:avLst/>
              </a:prstGeom>
              <a:blipFill>
                <a:blip r:embed="rId8"/>
                <a:stretch>
                  <a:fillRect l="-199" t="-249" r="-3287" b="-1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AFC59125-5BD0-C4DC-2AF3-547A26AC5B1C}"/>
              </a:ext>
            </a:extLst>
          </p:cNvPr>
          <p:cNvSpPr txBox="1"/>
          <p:nvPr/>
        </p:nvSpPr>
        <p:spPr>
          <a:xfrm>
            <a:off x="3236478" y="6016429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highlight>
                  <a:srgbClr val="FFFF00"/>
                </a:highlight>
              </a:rPr>
              <a:t>簇</a:t>
            </a:r>
            <a:r>
              <a:rPr lang="zh-CN" altLang="en-US" sz="1600">
                <a:highlight>
                  <a:srgbClr val="FFFF00"/>
                </a:highlight>
              </a:rPr>
              <a:t>：密度可达关系导出的最大的密度相连样本集合</a:t>
            </a:r>
          </a:p>
        </p:txBody>
      </p:sp>
    </p:spTree>
    <p:extLst>
      <p:ext uri="{BB962C8B-B14F-4D97-AF65-F5344CB8AC3E}">
        <p14:creationId xmlns:p14="http://schemas.microsoft.com/office/powerpoint/2010/main" val="393069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D83A-EDD4-CF15-6BC1-8790928E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3F314F6-7C86-E681-83AC-F337419D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C3E64A-A27E-B9AC-E888-99D28F59281A}"/>
              </a:ext>
            </a:extLst>
          </p:cNvPr>
          <p:cNvSpPr txBox="1"/>
          <p:nvPr/>
        </p:nvSpPr>
        <p:spPr>
          <a:xfrm>
            <a:off x="339365" y="1131216"/>
            <a:ext cx="251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>
                <a:solidFill>
                  <a:srgbClr val="C00000"/>
                </a:solidFill>
              </a:rPr>
              <a:t>节：层次聚类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C00D3B-DC6B-2164-CA49-595218C00ECB}"/>
              </a:ext>
            </a:extLst>
          </p:cNvPr>
          <p:cNvSpPr txBox="1"/>
          <p:nvPr/>
        </p:nvSpPr>
        <p:spPr>
          <a:xfrm>
            <a:off x="339364" y="1713020"/>
            <a:ext cx="116830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层次聚类：</a:t>
            </a:r>
            <a:r>
              <a:rPr lang="zh-CN" altLang="en-US" sz="1600"/>
              <a:t>层次聚类试图在不同层次对数据集进行划分，从而形成树状的聚类结构。</a:t>
            </a:r>
            <a:endParaRPr lang="en-US" altLang="zh-CN" sz="1600"/>
          </a:p>
          <a:p>
            <a:r>
              <a:rPr lang="zh-CN" altLang="en-US" sz="1400" b="1"/>
              <a:t>确定</a:t>
            </a:r>
            <a:r>
              <a:rPr lang="en-US" altLang="zh-CN" sz="1400" b="1"/>
              <a:t>k</a:t>
            </a:r>
            <a:r>
              <a:rPr lang="zh-CN" altLang="en-US" sz="1400"/>
              <a:t>：取不同的簇距离就可以得到不同数量的聚类簇。</a:t>
            </a:r>
            <a:endParaRPr lang="en-US" altLang="zh-CN" sz="1400"/>
          </a:p>
          <a:p>
            <a:r>
              <a:rPr lang="zh-CN" altLang="en-US" sz="1400" b="1"/>
              <a:t>划分方法</a:t>
            </a:r>
            <a:r>
              <a:rPr lang="zh-CN" altLang="en-US" sz="1400"/>
              <a:t>：</a:t>
            </a:r>
            <a:r>
              <a:rPr lang="en-US" altLang="zh-CN" sz="1400"/>
              <a:t>1.</a:t>
            </a:r>
            <a:r>
              <a:rPr lang="zh-CN" altLang="en-US" sz="1400"/>
              <a:t>自下而上的凝聚层次聚类（</a:t>
            </a:r>
            <a:r>
              <a:rPr lang="en-US" altLang="zh-CN" sz="1400" b="1"/>
              <a:t>AGNES</a:t>
            </a:r>
            <a:r>
              <a:rPr lang="zh-CN" altLang="en-US" sz="1400"/>
              <a:t>）</a:t>
            </a:r>
            <a:r>
              <a:rPr lang="en-US" altLang="zh-CN" sz="1400"/>
              <a:t>2.</a:t>
            </a:r>
            <a:r>
              <a:rPr lang="zh-CN" altLang="en-US" sz="1400"/>
              <a:t>自上而下的分裂层次聚类。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DB912E2-6DAF-D750-ABA5-A7EAD300EE31}"/>
              </a:ext>
            </a:extLst>
          </p:cNvPr>
          <p:cNvGrpSpPr/>
          <p:nvPr/>
        </p:nvGrpSpPr>
        <p:grpSpPr>
          <a:xfrm>
            <a:off x="8338378" y="1134706"/>
            <a:ext cx="2356128" cy="2043629"/>
            <a:chOff x="2591878" y="2249655"/>
            <a:chExt cx="4325757" cy="3185061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2BF77C24-2DC6-C92E-D2D8-DD241A441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1878" y="2249655"/>
              <a:ext cx="4325757" cy="3185061"/>
            </a:xfrm>
            <a:prstGeom prst="rect">
              <a:avLst/>
            </a:prstGeom>
          </p:spPr>
        </p:pic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B55AB58-D5B1-1D1A-5647-410EADE1ED0B}"/>
                </a:ext>
              </a:extLst>
            </p:cNvPr>
            <p:cNvCxnSpPr>
              <a:cxnSpLocks/>
            </p:cNvCxnSpPr>
            <p:nvPr/>
          </p:nvCxnSpPr>
          <p:spPr>
            <a:xfrm>
              <a:off x="2937329" y="4079019"/>
              <a:ext cx="39483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BEA0DF29-3B30-2208-6042-AC821268DBAB}"/>
              </a:ext>
            </a:extLst>
          </p:cNvPr>
          <p:cNvSpPr txBox="1"/>
          <p:nvPr/>
        </p:nvSpPr>
        <p:spPr>
          <a:xfrm>
            <a:off x="339365" y="2466409"/>
            <a:ext cx="7999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</a:rPr>
              <a:t>AGNES</a:t>
            </a:r>
            <a:r>
              <a:rPr lang="zh-CN" altLang="en-US" sz="1600" b="1">
                <a:solidFill>
                  <a:srgbClr val="C00000"/>
                </a:solidFill>
              </a:rPr>
              <a:t>聚类：</a:t>
            </a:r>
            <a:r>
              <a:rPr lang="zh-CN" altLang="en-US" sz="1600"/>
              <a:t>一种采用凝聚策略的层次聚类算法，将数据集中的每个样本看作是一个单独的簇，然后找到距离最近的两个簇合并，直到达到预设的聚类簇个数。</a:t>
            </a:r>
            <a:endParaRPr lang="zh-CN" altLang="en-US" sz="14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6FD7023-1965-3422-3B42-3CD3D8F2C2CA}"/>
              </a:ext>
            </a:extLst>
          </p:cNvPr>
          <p:cNvSpPr txBox="1"/>
          <p:nvPr/>
        </p:nvSpPr>
        <p:spPr>
          <a:xfrm>
            <a:off x="339365" y="3170308"/>
            <a:ext cx="115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距离计算：</a:t>
            </a:r>
            <a:endParaRPr lang="zh-CN" altLang="en-US" sz="14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ACE89AE-B1D8-4683-D07F-96938E82D86C}"/>
              </a:ext>
            </a:extLst>
          </p:cNvPr>
          <p:cNvSpPr txBox="1"/>
          <p:nvPr/>
        </p:nvSpPr>
        <p:spPr>
          <a:xfrm>
            <a:off x="707666" y="3536300"/>
            <a:ext cx="70054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600" b="1"/>
              <a:t>Single Linkage</a:t>
            </a:r>
            <a:r>
              <a:rPr lang="en-US" altLang="zh-CN" sz="1600" b="1"/>
              <a:t>(</a:t>
            </a:r>
            <a:r>
              <a:rPr lang="zh-CN" altLang="en-US" sz="1600" b="1"/>
              <a:t>单链接</a:t>
            </a:r>
            <a:r>
              <a:rPr lang="en-US" altLang="zh-CN" sz="1600" b="1"/>
              <a:t>)</a:t>
            </a:r>
            <a:r>
              <a:rPr lang="zh-CN" altLang="en-US" sz="1600"/>
              <a:t>：取两个簇中最近的两个样本的距离作为最小距离：</a:t>
            </a:r>
            <a:endParaRPr lang="en-US" altLang="zh-CN" sz="1600"/>
          </a:p>
          <a:p>
            <a:r>
              <a:rPr lang="zh-CN" altLang="zh-CN" sz="1400"/>
              <a:t>容易形成“链状”的簇。</a:t>
            </a:r>
            <a:endParaRPr lang="zh-CN" altLang="en-US" sz="14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9454B88-656C-D040-D888-6D78CE357160}"/>
              </a:ext>
            </a:extLst>
          </p:cNvPr>
          <p:cNvSpPr txBox="1"/>
          <p:nvPr/>
        </p:nvSpPr>
        <p:spPr>
          <a:xfrm>
            <a:off x="707666" y="4359970"/>
            <a:ext cx="73340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600" b="1"/>
              <a:t>Complete Linkage</a:t>
            </a:r>
            <a:r>
              <a:rPr lang="en-US" altLang="zh-CN" sz="1600" b="1"/>
              <a:t>(</a:t>
            </a:r>
            <a:r>
              <a:rPr lang="zh-CN" altLang="en-US" sz="1600" b="1"/>
              <a:t>全链接</a:t>
            </a:r>
            <a:r>
              <a:rPr lang="en-US" altLang="zh-CN" sz="1600" b="1"/>
              <a:t>)</a:t>
            </a:r>
            <a:r>
              <a:rPr lang="zh-CN" altLang="en-US" sz="1600"/>
              <a:t>：取两个簇中最远的两个样本的距离作为最大距离：</a:t>
            </a:r>
            <a:endParaRPr lang="en-US" altLang="zh-CN" sz="1600"/>
          </a:p>
          <a:p>
            <a:r>
              <a:rPr lang="zh-CN" altLang="en-US" sz="1400"/>
              <a:t>倾向于形成比较紧凑的簇。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57E9107-6B49-FDB6-54A9-322366455CB1}"/>
              </a:ext>
            </a:extLst>
          </p:cNvPr>
          <p:cNvSpPr txBox="1"/>
          <p:nvPr/>
        </p:nvSpPr>
        <p:spPr>
          <a:xfrm>
            <a:off x="707666" y="5138383"/>
            <a:ext cx="76113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600" b="1"/>
              <a:t>Average Linkage</a:t>
            </a:r>
            <a:r>
              <a:rPr lang="en-US" altLang="zh-CN" sz="1600" b="1"/>
              <a:t>(</a:t>
            </a:r>
            <a:r>
              <a:rPr lang="zh-CN" altLang="en-US" sz="1600" b="1"/>
              <a:t>均链接</a:t>
            </a:r>
            <a:r>
              <a:rPr lang="en-US" altLang="zh-CN" sz="1600" b="1"/>
              <a:t>)</a:t>
            </a:r>
            <a:r>
              <a:rPr lang="zh-CN" altLang="en-US" sz="1600"/>
              <a:t>：</a:t>
            </a:r>
            <a:r>
              <a:rPr lang="zh-CN" altLang="zh-CN" sz="1600"/>
              <a:t>计算两个簇中所有样本对距离的平均值</a:t>
            </a:r>
            <a:r>
              <a:rPr lang="zh-CN" altLang="en-US" sz="1600"/>
              <a:t>作为平均距离：</a:t>
            </a:r>
            <a:endParaRPr lang="en-US" altLang="zh-CN" sz="1600"/>
          </a:p>
          <a:p>
            <a:r>
              <a:rPr lang="zh-CN" altLang="zh-CN" sz="1400"/>
              <a:t>在 Single 和 Complete 之间取得折中。</a:t>
            </a:r>
            <a:endParaRPr lang="zh-CN" altLang="en-US" sz="1400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BE112925-0C76-2562-8D9A-4EFF488EA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72" y="3856685"/>
            <a:ext cx="2138961" cy="50328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AAB4CED0-41CC-8B1D-147E-7D1A53228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223" y="4705774"/>
            <a:ext cx="1982257" cy="477866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DE562E36-2A8B-54EE-113F-93867322E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684" y="5476937"/>
            <a:ext cx="2625635" cy="624277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8DB0CFFF-C7E0-A975-04AA-4D3DD551C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2746" y="3429000"/>
            <a:ext cx="1363131" cy="27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0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2F32-50B0-F2AE-588A-15203327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0EF37372-886B-FCF3-67D9-F0E4838D5822}"/>
              </a:ext>
            </a:extLst>
          </p:cNvPr>
          <p:cNvPicPr>
            <a:picLocks/>
          </p:cNvPicPr>
          <p:nvPr/>
        </p:nvPicPr>
        <p:blipFill>
          <a:blip r:embed="rId3"/>
          <a:srcRect b="13068"/>
          <a:stretch>
            <a:fillRect/>
          </a:stretch>
        </p:blipFill>
        <p:spPr>
          <a:xfrm>
            <a:off x="4691938" y="4652786"/>
            <a:ext cx="3144605" cy="18224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DE041E4-C7D4-52B7-98F1-C9234ECB983C}"/>
              </a:ext>
            </a:extLst>
          </p:cNvPr>
          <p:cNvPicPr>
            <a:picLocks/>
          </p:cNvPicPr>
          <p:nvPr/>
        </p:nvPicPr>
        <p:blipFill>
          <a:blip r:embed="rId4"/>
          <a:srcRect b="20668"/>
          <a:stretch>
            <a:fillRect/>
          </a:stretch>
        </p:blipFill>
        <p:spPr>
          <a:xfrm>
            <a:off x="838841" y="4732449"/>
            <a:ext cx="2891387" cy="166311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B85AA74-C9DD-16BE-76C4-D4EFF3899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758" y="2675477"/>
            <a:ext cx="2446383" cy="61286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073EC00-A1D7-C9EF-43EF-718097CAD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3989" y="1958872"/>
            <a:ext cx="1670873" cy="5263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3532A0B-3BE1-61D0-E428-42CCFE2D88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2602" y="1973720"/>
            <a:ext cx="1998083" cy="52630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2AA9C32-BA07-9910-4646-4F95BAC29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1039" y="1260272"/>
            <a:ext cx="2891822" cy="61289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52BE11A-4A9D-F034-FFE1-7420F985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决策树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8EDF43-F932-14D2-6D6E-28E7AC069D88}"/>
              </a:ext>
            </a:extLst>
          </p:cNvPr>
          <p:cNvSpPr txBox="1"/>
          <p:nvPr/>
        </p:nvSpPr>
        <p:spPr>
          <a:xfrm>
            <a:off x="71534" y="170388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选择划分属性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548C8B-5785-E729-9A1B-A8BEAEABA287}"/>
              </a:ext>
            </a:extLst>
          </p:cNvPr>
          <p:cNvSpPr txBox="1"/>
          <p:nvPr/>
        </p:nvSpPr>
        <p:spPr>
          <a:xfrm>
            <a:off x="1694954" y="1077349"/>
            <a:ext cx="8576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ID3</a:t>
            </a:r>
            <a:r>
              <a:rPr lang="zh-CN" altLang="en-US" sz="1600" b="1"/>
              <a:t>决策树：信息增益</a:t>
            </a:r>
            <a:r>
              <a:rPr lang="zh-CN" altLang="en-US" sz="1600"/>
              <a:t>：信息增益越大，意味着使用属性</a:t>
            </a:r>
            <a:r>
              <a:rPr lang="en-US" altLang="zh-CN" sz="1600"/>
              <a:t>a</a:t>
            </a:r>
            <a:r>
              <a:rPr lang="zh-CN" altLang="en-US" sz="1600"/>
              <a:t>来进行划分所获得的纯度提升越大。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A826AF-1881-E5DC-4A1D-96AFE1EDAE6E}"/>
              </a:ext>
            </a:extLst>
          </p:cNvPr>
          <p:cNvSpPr txBox="1"/>
          <p:nvPr/>
        </p:nvSpPr>
        <p:spPr>
          <a:xfrm>
            <a:off x="1694953" y="1756679"/>
            <a:ext cx="8182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C4.5</a:t>
            </a:r>
            <a:r>
              <a:rPr lang="zh-CN" altLang="en-US" sz="1600" b="1"/>
              <a:t>决策树：增益率</a:t>
            </a:r>
            <a:r>
              <a:rPr lang="zh-CN" altLang="en-US" sz="1600"/>
              <a:t>：信息增益对可取值较多的属性有所偏好，增益率可减少这种偏好。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10CD6E-745F-2990-B0B5-DB36CA16DE48}"/>
              </a:ext>
            </a:extLst>
          </p:cNvPr>
          <p:cNvSpPr txBox="1"/>
          <p:nvPr/>
        </p:nvSpPr>
        <p:spPr>
          <a:xfrm>
            <a:off x="1694953" y="2443854"/>
            <a:ext cx="10354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CART</a:t>
            </a:r>
            <a:r>
              <a:rPr lang="zh-CN" altLang="en-US" sz="1600" b="1"/>
              <a:t>决策树：基尼指数</a:t>
            </a:r>
            <a:r>
              <a:rPr lang="zh-CN" altLang="en-US" sz="1600"/>
              <a:t>：反映从数据集随机抽取两个样本，其类别标记不一致的概率，</a:t>
            </a:r>
            <a:r>
              <a:rPr lang="en-US" altLang="zh-CN" sz="1600"/>
              <a:t>Gini</a:t>
            </a:r>
            <a:r>
              <a:rPr lang="zh-CN" altLang="en-US" sz="1600"/>
              <a:t>越小，纯度越高。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1AF1398C-3620-12F6-4821-8879088656A9}"/>
              </a:ext>
            </a:extLst>
          </p:cNvPr>
          <p:cNvSpPr/>
          <p:nvPr/>
        </p:nvSpPr>
        <p:spPr>
          <a:xfrm>
            <a:off x="1423283" y="1224501"/>
            <a:ext cx="270839" cy="1417462"/>
          </a:xfrm>
          <a:prstGeom prst="leftBrace">
            <a:avLst>
              <a:gd name="adj1" fmla="val 8333"/>
              <a:gd name="adj2" fmla="val 442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0E7981-9163-FA08-FD08-27F633C60ACD}"/>
              </a:ext>
            </a:extLst>
          </p:cNvPr>
          <p:cNvSpPr txBox="1"/>
          <p:nvPr/>
        </p:nvSpPr>
        <p:spPr>
          <a:xfrm>
            <a:off x="111319" y="3913717"/>
            <a:ext cx="2056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剪枝</a:t>
            </a:r>
            <a:r>
              <a:rPr lang="zh-CN" altLang="en-US" sz="1600"/>
              <a:t>：</a:t>
            </a:r>
            <a:r>
              <a:rPr lang="zh-CN" altLang="en-US" sz="1400" b="1"/>
              <a:t>降低过拟合风险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E41EC8-0B5F-2A5D-1B11-9B969121AD74}"/>
              </a:ext>
            </a:extLst>
          </p:cNvPr>
          <p:cNvSpPr txBox="1"/>
          <p:nvPr/>
        </p:nvSpPr>
        <p:spPr>
          <a:xfrm>
            <a:off x="2235644" y="3429000"/>
            <a:ext cx="9707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预剪枝</a:t>
            </a:r>
            <a:r>
              <a:rPr lang="zh-CN" altLang="en-US" sz="1600"/>
              <a:t>：在决策树生成过程中，对每个结点在划分前先进行估计，如果该划分不能提升决策树泛化性能，则停止划分并将该结点作为叶结点。</a:t>
            </a:r>
            <a:endParaRPr lang="zh-CN" altLang="en-US" sz="1600" b="1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3460E4-98FF-5C94-C70D-CABCC5B32D68}"/>
              </a:ext>
            </a:extLst>
          </p:cNvPr>
          <p:cNvSpPr txBox="1"/>
          <p:nvPr/>
        </p:nvSpPr>
        <p:spPr>
          <a:xfrm>
            <a:off x="2235644" y="4153894"/>
            <a:ext cx="9707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后剪枝</a:t>
            </a:r>
            <a:r>
              <a:rPr lang="zh-CN" altLang="en-US" sz="1600"/>
              <a:t>：先从训练集生成一颗完整的决策树，然后自底向下对非叶结点考察，如果将该结点替换成叶结点可以提升决策树泛化性能，则替换。</a:t>
            </a:r>
            <a:endParaRPr lang="zh-CN" altLang="en-US" sz="1600" b="1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F21F3AB2-CB3D-E473-9F6F-9609CC70381F}"/>
              </a:ext>
            </a:extLst>
          </p:cNvPr>
          <p:cNvSpPr/>
          <p:nvPr/>
        </p:nvSpPr>
        <p:spPr>
          <a:xfrm>
            <a:off x="2088779" y="3641697"/>
            <a:ext cx="116855" cy="8825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D3F581-C721-2E96-0B36-54E465503B14}"/>
              </a:ext>
            </a:extLst>
          </p:cNvPr>
          <p:cNvSpPr txBox="1"/>
          <p:nvPr/>
        </p:nvSpPr>
        <p:spPr>
          <a:xfrm>
            <a:off x="419095" y="4215449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/>
              <a:t>判断泛化性能：</a:t>
            </a:r>
            <a:endParaRPr lang="en-US" altLang="zh-CN" sz="1400"/>
          </a:p>
          <a:p>
            <a:pPr algn="ctr"/>
            <a:r>
              <a:rPr lang="zh-CN" altLang="en-US" sz="1400"/>
              <a:t>划分验证集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9B6CEF-4184-B20B-D9BD-C7A48052872E}"/>
              </a:ext>
            </a:extLst>
          </p:cNvPr>
          <p:cNvSpPr txBox="1"/>
          <p:nvPr/>
        </p:nvSpPr>
        <p:spPr>
          <a:xfrm>
            <a:off x="6322355" y="2108477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/>
              <a:t>固有值</a:t>
            </a:r>
            <a:r>
              <a:rPr lang="en-US" altLang="zh-CN" sz="1400" b="1"/>
              <a:t>IV</a:t>
            </a:r>
            <a:r>
              <a:rPr lang="zh-CN" altLang="en-US" sz="1400" b="1"/>
              <a:t>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7377A0E-5149-A54D-E908-79FE2D929D4E}"/>
              </a:ext>
            </a:extLst>
          </p:cNvPr>
          <p:cNvSpPr txBox="1"/>
          <p:nvPr/>
        </p:nvSpPr>
        <p:spPr>
          <a:xfrm>
            <a:off x="8324332" y="5191460"/>
            <a:ext cx="31053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欠拟合风险</a:t>
            </a:r>
            <a:r>
              <a:rPr lang="zh-CN" altLang="en-US" sz="1600"/>
              <a:t>：后剪枝</a:t>
            </a:r>
            <a:r>
              <a:rPr lang="en-US" altLang="zh-CN" sz="1600"/>
              <a:t>&lt;</a:t>
            </a:r>
            <a:r>
              <a:rPr lang="zh-CN" altLang="en-US" sz="1600"/>
              <a:t>预剪枝</a:t>
            </a:r>
            <a:endParaRPr lang="en-US" altLang="zh-CN" sz="1600"/>
          </a:p>
          <a:p>
            <a:r>
              <a:rPr lang="zh-CN" altLang="en-US" sz="1600" b="1"/>
              <a:t>泛化性能</a:t>
            </a:r>
            <a:r>
              <a:rPr lang="zh-CN" altLang="en-US" sz="1600"/>
              <a:t>：后剪枝</a:t>
            </a:r>
            <a:r>
              <a:rPr lang="en-US" altLang="zh-CN" sz="1600"/>
              <a:t>&gt;</a:t>
            </a:r>
            <a:r>
              <a:rPr lang="zh-CN" altLang="en-US" sz="1600"/>
              <a:t>预剪枝</a:t>
            </a:r>
            <a:endParaRPr lang="en-US" altLang="zh-CN" sz="1600"/>
          </a:p>
          <a:p>
            <a:r>
              <a:rPr lang="zh-CN" altLang="en-US" sz="1600" b="1"/>
              <a:t>训练时间开销</a:t>
            </a:r>
            <a:r>
              <a:rPr lang="zh-CN" altLang="en-US" sz="1600"/>
              <a:t>：后剪枝</a:t>
            </a:r>
            <a:r>
              <a:rPr lang="en-US" altLang="zh-CN" sz="1600"/>
              <a:t>&gt;</a:t>
            </a:r>
            <a:r>
              <a:rPr lang="zh-CN" altLang="en-US" sz="1600"/>
              <a:t>预剪枝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226E13-4D2D-F2B8-3681-A97596E8939E}"/>
              </a:ext>
            </a:extLst>
          </p:cNvPr>
          <p:cNvSpPr txBox="1"/>
          <p:nvPr/>
        </p:nvSpPr>
        <p:spPr>
          <a:xfrm>
            <a:off x="419095" y="5191460"/>
            <a:ext cx="486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预剪枝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D9862E-2D49-07F5-F330-AAD1915FC5BC}"/>
              </a:ext>
            </a:extLst>
          </p:cNvPr>
          <p:cNvSpPr txBox="1"/>
          <p:nvPr/>
        </p:nvSpPr>
        <p:spPr>
          <a:xfrm>
            <a:off x="4149974" y="5191460"/>
            <a:ext cx="486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后剪枝</a:t>
            </a:r>
          </a:p>
        </p:txBody>
      </p:sp>
    </p:spTree>
    <p:extLst>
      <p:ext uri="{BB962C8B-B14F-4D97-AF65-F5344CB8AC3E}">
        <p14:creationId xmlns:p14="http://schemas.microsoft.com/office/powerpoint/2010/main" val="53725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4A5F-1155-4A7C-6CE8-B9898A6D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D6608C-4401-343C-AAC1-3D603F0A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贝叶斯分类器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78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E449-E2E6-9531-869E-32730D00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F23810D-569D-BB8A-AE93-F3E0E730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F5F74A-5241-9C0A-DD44-3E0F5F7E76EB}"/>
              </a:ext>
            </a:extLst>
          </p:cNvPr>
          <p:cNvSpPr txBox="1"/>
          <p:nvPr/>
        </p:nvSpPr>
        <p:spPr>
          <a:xfrm>
            <a:off x="214743" y="1273288"/>
            <a:ext cx="71903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距离两类样本越远的分界线，越不容易受到噪声影响，分类效果越好，越鲁棒。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891DCA-01C3-7299-852D-467612FF53CA}"/>
              </a:ext>
            </a:extLst>
          </p:cNvPr>
          <p:cNvSpPr txBox="1"/>
          <p:nvPr/>
        </p:nvSpPr>
        <p:spPr>
          <a:xfrm>
            <a:off x="8421350" y="1273288"/>
            <a:ext cx="1442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/>
              <a:t>最大间隔原则</a:t>
            </a:r>
            <a:endParaRPr lang="zh-CN" altLang="en-US" sz="16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045E8D-CD0C-445E-D5DF-E7FF9D329495}"/>
              </a:ext>
            </a:extLst>
          </p:cNvPr>
          <p:cNvSpPr txBox="1"/>
          <p:nvPr/>
        </p:nvSpPr>
        <p:spPr>
          <a:xfrm>
            <a:off x="214743" y="178841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支持向量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51A63C-5655-EB7A-903A-FA0B0C905050}"/>
              </a:ext>
            </a:extLst>
          </p:cNvPr>
          <p:cNvSpPr txBox="1"/>
          <p:nvPr/>
        </p:nvSpPr>
        <p:spPr>
          <a:xfrm>
            <a:off x="1384716" y="1788415"/>
            <a:ext cx="3771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距离分类超平面最近的几个样本点。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4C9BA4-D7F8-DAE4-A2E2-02C418AA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594" y="1827956"/>
            <a:ext cx="1553492" cy="5980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AB8738-AB7B-16AA-2E5B-557EF28FB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673" y="1827957"/>
            <a:ext cx="955539" cy="44229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F5D1F5D-09C2-33E0-7E5D-1DFCEE54C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42" y="2579953"/>
            <a:ext cx="6290096" cy="241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85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58A0A-79F1-6302-0BB8-A99F85F5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286364-4570-BD8C-DA99-6EA677C9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BA8F20-DBAE-2CD6-BB40-09077423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1" y="995132"/>
            <a:ext cx="12192000" cy="5557284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0901A4B-15CB-E9EA-9389-FE90BC73F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887215"/>
              </p:ext>
            </p:extLst>
          </p:nvPr>
        </p:nvGraphicFramePr>
        <p:xfrm>
          <a:off x="6640642" y="5018219"/>
          <a:ext cx="5551358" cy="1534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491">
                  <a:extLst>
                    <a:ext uri="{9D8B030D-6E8A-4147-A177-3AD203B41FA5}">
                      <a16:colId xmlns:a16="http://schemas.microsoft.com/office/drawing/2014/main" val="3764094125"/>
                    </a:ext>
                  </a:extLst>
                </a:gridCol>
                <a:gridCol w="2132867">
                  <a:extLst>
                    <a:ext uri="{9D8B030D-6E8A-4147-A177-3AD203B41FA5}">
                      <a16:colId xmlns:a16="http://schemas.microsoft.com/office/drawing/2014/main" val="1658063860"/>
                    </a:ext>
                  </a:extLst>
                </a:gridCol>
              </a:tblGrid>
              <a:tr h="293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6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rgbClr val="FF0000"/>
                          </a:solidFill>
                        </a:rPr>
                        <a:t>缺点</a:t>
                      </a:r>
                    </a:p>
                  </a:txBody>
                  <a:tcPr>
                    <a:solidFill>
                      <a:srgbClr val="FD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31788"/>
                  </a:ext>
                </a:extLst>
              </a:tr>
              <a:tr h="1198917">
                <a:tc>
                  <a:txBody>
                    <a:bodyPr/>
                    <a:lstStyle/>
                    <a:p>
                      <a:r>
                        <a:rPr lang="en-US" altLang="zh-CN" sz="1400"/>
                        <a:t>1.</a:t>
                      </a:r>
                      <a:r>
                        <a:rPr lang="zh-CN" altLang="en-US" sz="1400"/>
                        <a:t>在高维空间仍然有效，适合小样本高维数据；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2.</a:t>
                      </a:r>
                      <a:r>
                        <a:rPr lang="zh-CN" altLang="en-US" sz="1400"/>
                        <a:t>最大间隔原则具有良好的泛化能力；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3.</a:t>
                      </a:r>
                      <a:r>
                        <a:rPr lang="zh-CN" altLang="en-US" sz="1400"/>
                        <a:t>通过核函数可以处理非线性问题；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4.</a:t>
                      </a:r>
                      <a:r>
                        <a:rPr lang="zh-CN" altLang="en-US" sz="1400"/>
                        <a:t>只依赖于支持向量，模型紧凑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1.</a:t>
                      </a:r>
                      <a:r>
                        <a:rPr lang="zh-CN" altLang="en-US" sz="1400"/>
                        <a:t>训练时间较长，尤其对于大数据模型；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2.</a:t>
                      </a:r>
                      <a:r>
                        <a:rPr lang="zh-CN" altLang="en-US" sz="1400"/>
                        <a:t>参数的选择影响较大；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3.</a:t>
                      </a:r>
                      <a:r>
                        <a:rPr lang="zh-CN" altLang="en-US" sz="1400"/>
                        <a:t>对噪声和异常值较敏感；</a:t>
                      </a:r>
                      <a:endParaRPr lang="en-US" altLang="zh-CN" sz="1400"/>
                    </a:p>
                    <a:p>
                      <a:r>
                        <a:rPr lang="en-US" altLang="zh-CN" sz="1400"/>
                        <a:t>4.</a:t>
                      </a:r>
                      <a:r>
                        <a:rPr lang="zh-CN" altLang="en-US" sz="1400"/>
                        <a:t>结果解释性较弱。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382203"/>
                  </a:ext>
                </a:extLst>
              </a:tr>
            </a:tbl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A0A7514-4820-F614-7ADA-DCB98893EE56}"/>
              </a:ext>
            </a:extLst>
          </p:cNvPr>
          <p:cNvSpPr/>
          <p:nvPr/>
        </p:nvSpPr>
        <p:spPr>
          <a:xfrm>
            <a:off x="6640642" y="2323475"/>
            <a:ext cx="4691922" cy="1723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C88-0206-A5FB-5581-0D37A6FE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2C5243-10DD-14D3-E090-16D4428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84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18338</TotalTime>
  <Words>2443</Words>
  <Application>Microsoft Office PowerPoint</Application>
  <PresentationFormat>宽屏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Google Sans Text</vt:lpstr>
      <vt:lpstr>等线</vt:lpstr>
      <vt:lpstr>等线 Light</vt:lpstr>
      <vt:lpstr>隶书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训练集与测试集划分</vt:lpstr>
      <vt:lpstr>聚类</vt:lpstr>
      <vt:lpstr>聚类</vt:lpstr>
      <vt:lpstr>聚类</vt:lpstr>
      <vt:lpstr>聚类</vt:lpstr>
      <vt:lpstr>聚类</vt:lpstr>
      <vt:lpstr>聚类</vt:lpstr>
      <vt:lpstr>决策树</vt:lpstr>
      <vt:lpstr>贝叶斯分类器</vt:lpstr>
      <vt:lpstr>支持向量机</vt:lpstr>
      <vt:lpstr>支持向量机</vt:lpstr>
      <vt:lpstr>支持向量机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博文 汪</dc:creator>
  <cp:lastModifiedBy>浩 熊</cp:lastModifiedBy>
  <cp:revision>697</cp:revision>
  <dcterms:created xsi:type="dcterms:W3CDTF">2024-07-16T12:05:39Z</dcterms:created>
  <dcterms:modified xsi:type="dcterms:W3CDTF">2026-08-18T06:49:19Z</dcterms:modified>
</cp:coreProperties>
</file>